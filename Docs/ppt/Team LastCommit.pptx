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Calibri (MS) Bold" charset="1" panose="020F0702030404030204"/>
      <p:regular r:id="rId16"/>
    </p:embeddedFont>
    <p:embeddedFont>
      <p:font typeface="Trade Gothic Condensed Bold" charset="1" panose="020B0806040303020004"/>
      <p:regular r:id="rId17"/>
    </p:embeddedFont>
    <p:embeddedFont>
      <p:font typeface="Trade Gothic Condensed" charset="1" panose="020B0506040303020004"/>
      <p:regular r:id="rId18"/>
    </p:embeddedFont>
    <p:embeddedFont>
      <p:font typeface="Roboto" charset="1" panose="02000000000000000000"/>
      <p:regular r:id="rId19"/>
    </p:embeddedFont>
    <p:embeddedFont>
      <p:font typeface="Roboto Bold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5.png" Type="http://schemas.openxmlformats.org/officeDocument/2006/relationships/image"/><Relationship Id="rId20" Target="../media/image23.png" Type="http://schemas.openxmlformats.org/officeDocument/2006/relationships/image"/><Relationship Id="rId21" Target="../media/image24.png" Type="http://schemas.openxmlformats.org/officeDocument/2006/relationships/image"/><Relationship Id="rId22" Target="../media/image25.png" Type="http://schemas.openxmlformats.org/officeDocument/2006/relationships/image"/><Relationship Id="rId23" Target="../media/image26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6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7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8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4.jpeg" Type="http://schemas.openxmlformats.org/officeDocument/2006/relationships/image"/><Relationship Id="rId6" Target="../media/image9.png" Type="http://schemas.openxmlformats.org/officeDocument/2006/relationships/image"/><Relationship Id="rId60" Target="../media/image62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jreast.co.jp/en/company/csr/innovation/technology/" TargetMode="External" Type="http://schemas.openxmlformats.org/officeDocument/2006/relationships/hyperlink"/><Relationship Id="rId11" Target="https://www.deutschebahn.com/en/artificial_intelligence-6935068" TargetMode="External" Type="http://schemas.openxmlformats.org/officeDocument/2006/relationships/hyperlink"/><Relationship Id="rId12" Target="https://www.nature.com/articles/s41598-025-26026-9" TargetMode="External" Type="http://schemas.openxmlformats.org/officeDocument/2006/relationships/hyperlink"/><Relationship Id="rId13" Target="../media/image67.jpeg" Type="http://schemas.openxmlformats.org/officeDocument/2006/relationships/image"/><Relationship Id="rId14" Target="../media/VAHU9RLG1Es.mp4" Type="http://schemas.openxmlformats.org/officeDocument/2006/relationships/video"/><Relationship Id="rId15" Target="../media/VAHU9RLG1Es.mp4" Type="http://schemas.microsoft.com/office/2007/relationships/media"/><Relationship Id="rId16" Target="https://play.google.com/store/apps/details?id=com.sisx.rbpams&amp;hl=en_IN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https://cag.gov.in/en/audit-report/details/116032?utm_source=chatgpt.com" TargetMode="External" Type="http://schemas.openxmlformats.org/officeDocument/2006/relationships/hyperlink"/><Relationship Id="rId5" Target="https://rdso.indianrailways.gov.in/works/uploads/File/Handbook%20on%20Review%20of%20Maintenance%20Schedule%20for%20OHE%281%29.pdf?utm_source=chatgpt.com" TargetMode="External" Type="http://schemas.openxmlformats.org/officeDocument/2006/relationships/hyperlink"/><Relationship Id="rId6" Target="https://iricen.gov.in/iricen/ipwe_seminar/2017/Nov%202023%20Vol-2/Ensuring%20Effectiveness%20in%20the%20Implementation%20of%20the%20Rolling%20Blockplan.pdf" TargetMode="External" Type="http://schemas.openxmlformats.org/officeDocument/2006/relationships/hyperlink"/><Relationship Id="rId7" Target="https://indiaai.gov.in/government/ministry-of-railways" TargetMode="External" Type="http://schemas.openxmlformats.org/officeDocument/2006/relationships/hyperlink"/><Relationship Id="rId8" Target="https://www.tcs.com/what-we-do/industries/travel-and-logistics/white-paper/ai-ml-framework-improves-efficiency-of-railway-asset-management" TargetMode="External" Type="http://schemas.openxmlformats.org/officeDocument/2006/relationships/hyperlink"/><Relationship Id="rId9" Target="https://nr.indianrailways.gov.in/uploads/files/1747981399971-G%20and%20SR%20reprinted%20edition%202025.pdf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01392" y="1679769"/>
            <a:ext cx="6957908" cy="7732452"/>
            <a:chOff x="0" y="0"/>
            <a:chExt cx="9277210" cy="10309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77210" cy="10309936"/>
            </a:xfrm>
            <a:custGeom>
              <a:avLst/>
              <a:gdLst/>
              <a:ahLst/>
              <a:cxnLst/>
              <a:rect r="r" b="b" t="t" l="l"/>
              <a:pathLst>
                <a:path h="10309936" w="9277210">
                  <a:moveTo>
                    <a:pt x="0" y="0"/>
                  </a:moveTo>
                  <a:lnTo>
                    <a:pt x="9277210" y="0"/>
                  </a:lnTo>
                  <a:lnTo>
                    <a:pt x="9277210" y="10309936"/>
                  </a:lnTo>
                  <a:lnTo>
                    <a:pt x="0" y="1030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2396223" y="1728711"/>
              <a:ext cx="6407023" cy="6852475"/>
              <a:chOff x="0" y="0"/>
              <a:chExt cx="6407023" cy="6852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07023" cy="6852412"/>
              </a:xfrm>
              <a:custGeom>
                <a:avLst/>
                <a:gdLst/>
                <a:ahLst/>
                <a:cxnLst/>
                <a:rect r="r" b="b" t="t" l="l"/>
                <a:pathLst>
                  <a:path h="6852412" w="6407023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149475" b="-1"/>
                </a:stretch>
              </a:blipFill>
            </p:spPr>
          </p:sp>
        </p:grpSp>
      </p:grpSp>
      <p:sp>
        <p:nvSpPr>
          <p:cNvPr name="TextBox 6" id="6"/>
          <p:cNvSpPr txBox="true"/>
          <p:nvPr/>
        </p:nvSpPr>
        <p:spPr>
          <a:xfrm rot="0">
            <a:off x="5347144" y="1962226"/>
            <a:ext cx="331639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431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32575" y="444306"/>
            <a:ext cx="12945528" cy="1206888"/>
            <a:chOff x="0" y="0"/>
            <a:chExt cx="20726400" cy="19322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32285"/>
            </a:xfrm>
            <a:custGeom>
              <a:avLst/>
              <a:gdLst/>
              <a:ahLst/>
              <a:cxnLst/>
              <a:rect r="r" b="b" t="t" l="l"/>
              <a:pathLst>
                <a:path h="193228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32285"/>
                  </a:lnTo>
                  <a:lnTo>
                    <a:pt x="0" y="19322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542" r="0" b="-21646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726400" cy="1951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609926"/>
            <a:ext cx="9933576" cy="625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5"/>
              </a:lnSpc>
            </a:pPr>
          </a:p>
          <a:p>
            <a:pPr algn="just" marL="552756" indent="-276378" lvl="1">
              <a:lnSpc>
                <a:spcPts val="6108"/>
              </a:lnSpc>
              <a:buFont typeface="Arial"/>
              <a:buChar char="•"/>
            </a:pPr>
            <a:r>
              <a:rPr lang="en-US" b="true" sz="305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SIH26027</a:t>
            </a:r>
          </a:p>
          <a:p>
            <a:pPr algn="just">
              <a:lnSpc>
                <a:spcPts val="2308"/>
              </a:lnSpc>
            </a:pPr>
          </a:p>
          <a:p>
            <a:pPr algn="just" marL="552756" indent="-276378" lvl="1">
              <a:lnSpc>
                <a:spcPts val="3909"/>
              </a:lnSpc>
              <a:buFont typeface="Arial"/>
              <a:buChar char="•"/>
            </a:pPr>
            <a:r>
              <a:rPr lang="en-US" b="true" sz="305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</a:t>
            </a:r>
            <a:r>
              <a:rPr lang="en-US" sz="30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Al-Powered Automatic Block Planning to Maximize Asset Availability for Train Operations on Indian Railways</a:t>
            </a:r>
          </a:p>
          <a:p>
            <a:pPr algn="just">
              <a:lnSpc>
                <a:spcPts val="581"/>
              </a:lnSpc>
            </a:pPr>
          </a:p>
          <a:p>
            <a:pPr algn="just" marL="552756" indent="-276378" lvl="1">
              <a:lnSpc>
                <a:spcPts val="6108"/>
              </a:lnSpc>
              <a:buFont typeface="Arial"/>
              <a:buChar char="•"/>
            </a:pPr>
            <a:r>
              <a:rPr lang="en-US" b="true" sz="305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0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Transportation and Logistics</a:t>
            </a:r>
          </a:p>
          <a:p>
            <a:pPr algn="just">
              <a:lnSpc>
                <a:spcPts val="1108"/>
              </a:lnSpc>
            </a:pPr>
          </a:p>
          <a:p>
            <a:pPr algn="just" marL="552756" indent="-276378" lvl="1">
              <a:lnSpc>
                <a:spcPts val="6108"/>
              </a:lnSpc>
              <a:buFont typeface="Arial"/>
              <a:buChar char="•"/>
            </a:pPr>
            <a:r>
              <a:rPr lang="en-US" b="true" sz="305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</a:t>
            </a:r>
            <a:r>
              <a:rPr lang="en-US" sz="30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lang="en-US" b="true" sz="305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just" marL="552756" indent="-276378" lvl="1">
              <a:lnSpc>
                <a:spcPts val="6108"/>
              </a:lnSpc>
              <a:buFont typeface="Arial"/>
              <a:buChar char="•"/>
            </a:pPr>
            <a:r>
              <a:rPr lang="en-US" b="true" sz="305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</a:t>
            </a:r>
            <a:r>
              <a:rPr lang="en-US" sz="30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SIH26027</a:t>
            </a:r>
          </a:p>
          <a:p>
            <a:pPr algn="just" marL="552756" indent="-276378" lvl="1">
              <a:lnSpc>
                <a:spcPts val="7330"/>
              </a:lnSpc>
              <a:buFont typeface="Arial"/>
              <a:buChar char="•"/>
            </a:pPr>
            <a:r>
              <a:rPr lang="en-US" b="true" sz="305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sz="30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LastCommit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17729" y="155681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39729" y="159937"/>
            <a:ext cx="13710240" cy="1394901"/>
            <a:chOff x="0" y="0"/>
            <a:chExt cx="17089908" cy="1738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89909" cy="1738754"/>
            </a:xfrm>
            <a:custGeom>
              <a:avLst/>
              <a:gdLst/>
              <a:ahLst/>
              <a:cxnLst/>
              <a:rect r="r" b="b" t="t" l="l"/>
              <a:pathLst>
                <a:path h="1738754" w="17089909">
                  <a:moveTo>
                    <a:pt x="0" y="0"/>
                  </a:moveTo>
                  <a:lnTo>
                    <a:pt x="17089909" y="0"/>
                  </a:lnTo>
                  <a:lnTo>
                    <a:pt x="17089909" y="1738754"/>
                  </a:lnTo>
                  <a:lnTo>
                    <a:pt x="0" y="17387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192" r="-28412" b="-21166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089908" cy="1767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b="true" sz="370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AI-Powered Automatic Block Planning System for Indian Railways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610490" y="174581"/>
            <a:ext cx="2390698" cy="1128842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319952" cy="860569"/>
            <a:chOff x="0" y="0"/>
            <a:chExt cx="2554516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LastCommit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973854"/>
            <a:ext cx="5562522" cy="5565431"/>
            <a:chOff x="0" y="0"/>
            <a:chExt cx="1413321" cy="14140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3321" cy="1414047"/>
            </a:xfrm>
            <a:custGeom>
              <a:avLst/>
              <a:gdLst/>
              <a:ahLst/>
              <a:cxnLst/>
              <a:rect r="r" b="b" t="t" l="l"/>
              <a:pathLst>
                <a:path h="1414047" w="1413321">
                  <a:moveTo>
                    <a:pt x="1413321" y="30620"/>
                  </a:moveTo>
                  <a:lnTo>
                    <a:pt x="1413321" y="1383427"/>
                  </a:lnTo>
                  <a:cubicBezTo>
                    <a:pt x="1413321" y="1391548"/>
                    <a:pt x="1410095" y="1399336"/>
                    <a:pt x="1404353" y="1405078"/>
                  </a:cubicBezTo>
                  <a:cubicBezTo>
                    <a:pt x="1398610" y="1410821"/>
                    <a:pt x="1390822" y="1414047"/>
                    <a:pt x="1382701" y="1414047"/>
                  </a:cubicBezTo>
                  <a:lnTo>
                    <a:pt x="30620" y="1414047"/>
                  </a:lnTo>
                  <a:cubicBezTo>
                    <a:pt x="22499" y="1414047"/>
                    <a:pt x="14711" y="1410821"/>
                    <a:pt x="8968" y="1405078"/>
                  </a:cubicBezTo>
                  <a:cubicBezTo>
                    <a:pt x="3226" y="1399336"/>
                    <a:pt x="0" y="1391548"/>
                    <a:pt x="0" y="1383427"/>
                  </a:cubicBezTo>
                  <a:lnTo>
                    <a:pt x="0" y="30620"/>
                  </a:lnTo>
                  <a:cubicBezTo>
                    <a:pt x="0" y="22499"/>
                    <a:pt x="3226" y="14711"/>
                    <a:pt x="8968" y="8968"/>
                  </a:cubicBezTo>
                  <a:cubicBezTo>
                    <a:pt x="14711" y="3226"/>
                    <a:pt x="22499" y="0"/>
                    <a:pt x="30620" y="0"/>
                  </a:cubicBezTo>
                  <a:lnTo>
                    <a:pt x="1382701" y="0"/>
                  </a:lnTo>
                  <a:cubicBezTo>
                    <a:pt x="1399612" y="0"/>
                    <a:pt x="1413321" y="13709"/>
                    <a:pt x="1413321" y="30620"/>
                  </a:cubicBezTo>
                  <a:close/>
                </a:path>
              </a:pathLst>
            </a:custGeom>
            <a:solidFill>
              <a:srgbClr val="F5D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13321" cy="1452147"/>
            </a:xfrm>
            <a:prstGeom prst="rect">
              <a:avLst/>
            </a:prstGeom>
          </p:spPr>
          <p:txBody>
            <a:bodyPr anchor="ctr" rtlCol="false" tIns="54269" lIns="54269" bIns="54269" rIns="54269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12177" y="3973854"/>
            <a:ext cx="5592978" cy="5565431"/>
            <a:chOff x="0" y="0"/>
            <a:chExt cx="1413142" cy="14061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3142" cy="1406169"/>
            </a:xfrm>
            <a:custGeom>
              <a:avLst/>
              <a:gdLst/>
              <a:ahLst/>
              <a:cxnLst/>
              <a:rect r="r" b="b" t="t" l="l"/>
              <a:pathLst>
                <a:path h="1406169" w="1413142">
                  <a:moveTo>
                    <a:pt x="1413142" y="30453"/>
                  </a:moveTo>
                  <a:lnTo>
                    <a:pt x="1413142" y="1375716"/>
                  </a:lnTo>
                  <a:cubicBezTo>
                    <a:pt x="1413142" y="1383793"/>
                    <a:pt x="1409934" y="1391538"/>
                    <a:pt x="1404223" y="1397249"/>
                  </a:cubicBezTo>
                  <a:cubicBezTo>
                    <a:pt x="1398512" y="1402960"/>
                    <a:pt x="1390766" y="1406169"/>
                    <a:pt x="1382689" y="1406169"/>
                  </a:cubicBezTo>
                  <a:lnTo>
                    <a:pt x="30453" y="1406169"/>
                  </a:lnTo>
                  <a:cubicBezTo>
                    <a:pt x="13634" y="1406169"/>
                    <a:pt x="0" y="1392535"/>
                    <a:pt x="0" y="1375716"/>
                  </a:cubicBezTo>
                  <a:lnTo>
                    <a:pt x="0" y="30453"/>
                  </a:lnTo>
                  <a:cubicBezTo>
                    <a:pt x="0" y="13634"/>
                    <a:pt x="13634" y="0"/>
                    <a:pt x="30453" y="0"/>
                  </a:cubicBezTo>
                  <a:lnTo>
                    <a:pt x="1382689" y="0"/>
                  </a:lnTo>
                  <a:cubicBezTo>
                    <a:pt x="1399508" y="0"/>
                    <a:pt x="1413142" y="13634"/>
                    <a:pt x="1413142" y="30453"/>
                  </a:cubicBezTo>
                  <a:close/>
                </a:path>
              </a:pathLst>
            </a:custGeom>
            <a:solidFill>
              <a:srgbClr val="F5D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13142" cy="1444269"/>
            </a:xfrm>
            <a:prstGeom prst="rect">
              <a:avLst/>
            </a:prstGeom>
          </p:spPr>
          <p:txBody>
            <a:bodyPr anchor="ctr" rtlCol="false" tIns="56605" lIns="56605" bIns="56605" rIns="56605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70171" y="3914808"/>
            <a:ext cx="5846139" cy="5624477"/>
            <a:chOff x="0" y="0"/>
            <a:chExt cx="1437329" cy="1382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7329" cy="1382818"/>
            </a:xfrm>
            <a:custGeom>
              <a:avLst/>
              <a:gdLst/>
              <a:ahLst/>
              <a:cxnLst/>
              <a:rect r="r" b="b" t="t" l="l"/>
              <a:pathLst>
                <a:path h="1382818" w="1437329">
                  <a:moveTo>
                    <a:pt x="1437329" y="29134"/>
                  </a:moveTo>
                  <a:lnTo>
                    <a:pt x="1437329" y="1353684"/>
                  </a:lnTo>
                  <a:cubicBezTo>
                    <a:pt x="1437329" y="1369774"/>
                    <a:pt x="1424285" y="1382818"/>
                    <a:pt x="1408195" y="1382818"/>
                  </a:cubicBezTo>
                  <a:lnTo>
                    <a:pt x="29134" y="1382818"/>
                  </a:lnTo>
                  <a:cubicBezTo>
                    <a:pt x="13044" y="1382818"/>
                    <a:pt x="0" y="1369774"/>
                    <a:pt x="0" y="1353684"/>
                  </a:cubicBezTo>
                  <a:lnTo>
                    <a:pt x="0" y="29134"/>
                  </a:lnTo>
                  <a:cubicBezTo>
                    <a:pt x="0" y="13044"/>
                    <a:pt x="13044" y="0"/>
                    <a:pt x="29134" y="0"/>
                  </a:cubicBezTo>
                  <a:lnTo>
                    <a:pt x="1408195" y="0"/>
                  </a:lnTo>
                  <a:cubicBezTo>
                    <a:pt x="1424285" y="0"/>
                    <a:pt x="1437329" y="13044"/>
                    <a:pt x="1437329" y="29134"/>
                  </a:cubicBezTo>
                  <a:close/>
                </a:path>
              </a:pathLst>
            </a:custGeom>
            <a:solidFill>
              <a:srgbClr val="F5D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37329" cy="1420918"/>
            </a:xfrm>
            <a:prstGeom prst="rect">
              <a:avLst/>
            </a:prstGeom>
          </p:spPr>
          <p:txBody>
            <a:bodyPr anchor="ctr" rtlCol="false" tIns="53406" lIns="53406" bIns="53406" rIns="53406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481628" y="4136994"/>
            <a:ext cx="5254077" cy="512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Train-aware planning &amp; </a:t>
            </a:r>
          </a:p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departmental coordination</a:t>
            </a:r>
          </a:p>
          <a:p>
            <a:pPr algn="l">
              <a:lnSpc>
                <a:spcPts val="2242"/>
              </a:lnSpc>
            </a:pPr>
          </a:p>
          <a:p>
            <a:pPr algn="l" marL="345819" indent="-172909" lvl="1">
              <a:lnSpc>
                <a:spcPts val="2242"/>
              </a:lnSpc>
              <a:buFont typeface="Arial"/>
              <a:buChar char="•"/>
            </a:pPr>
            <a:r>
              <a:rPr lang="en-US" b="true" sz="1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Safety &amp; Operational Constraints: </a:t>
            </a: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recommended blocks follows required operational and safety. </a:t>
            </a:r>
          </a:p>
          <a:p>
            <a:pPr algn="l" marL="345819" indent="-172909" lvl="1">
              <a:lnSpc>
                <a:spcPts val="2242"/>
              </a:lnSpc>
              <a:buFont typeface="Arial"/>
              <a:buChar char="•"/>
            </a:pPr>
            <a:r>
              <a:rPr lang="en-US" b="true" sz="1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Breaks Departmental Silos: </a:t>
            </a: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Bridges Civil (P-Way), Signal &amp; Telecom (S&amp;T), and Electrical (TRD) to eliminate repeated closures on identical corridors.</a:t>
            </a:r>
          </a:p>
          <a:p>
            <a:pPr algn="l" marL="345819" indent="-172909" lvl="1">
              <a:lnSpc>
                <a:spcPts val="2242"/>
              </a:lnSpc>
              <a:buFont typeface="Arial"/>
              <a:buChar char="•"/>
            </a:pPr>
            <a:r>
              <a:rPr lang="en-US" b="true" sz="1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Multi-Tier Priority Scorer: </a:t>
            </a: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Weights train classes (Vande Bharat = 5.0, Express = 2.5, Freight = 1.0) to strictly penalize delays on premium passenger services.</a:t>
            </a:r>
          </a:p>
          <a:p>
            <a:pPr algn="l" marL="345819" indent="-172909" lvl="1">
              <a:lnSpc>
                <a:spcPts val="2242"/>
              </a:lnSpc>
              <a:buFont typeface="Arial"/>
              <a:buChar char="•"/>
            </a:pPr>
            <a:r>
              <a:rPr lang="en-US" b="true" sz="160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Dispatcher Cockpit Visibility: </a:t>
            </a:r>
            <a:r>
              <a:rPr lang="en-US" sz="16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Delivers live interactive Gantt charts with 1-click AI recommendation locks and automated collision alerts for Section Controllers.</a:t>
            </a:r>
          </a:p>
          <a:p>
            <a:pPr algn="l">
              <a:lnSpc>
                <a:spcPts val="2242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9918482"/>
            <a:ext cx="18288000" cy="368518"/>
            <a:chOff x="0" y="0"/>
            <a:chExt cx="24384000" cy="4913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0" cy="491358"/>
            </a:xfrm>
            <a:custGeom>
              <a:avLst/>
              <a:gdLst/>
              <a:ahLst/>
              <a:cxnLst/>
              <a:rect r="r" b="b" t="t" l="l"/>
              <a:pathLst>
                <a:path h="49135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1358"/>
                  </a:lnTo>
                  <a:lnTo>
                    <a:pt x="0" y="49135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505465" y="9880382"/>
            <a:ext cx="4267200" cy="547688"/>
            <a:chOff x="0" y="0"/>
            <a:chExt cx="5689600" cy="730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10223" y="9836944"/>
            <a:ext cx="4806001" cy="547688"/>
            <a:chOff x="0" y="0"/>
            <a:chExt cx="6408001" cy="730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5773" y="3208746"/>
            <a:ext cx="5090843" cy="717074"/>
            <a:chOff x="0" y="0"/>
            <a:chExt cx="1369846" cy="1929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69846" cy="192951"/>
            </a:xfrm>
            <a:custGeom>
              <a:avLst/>
              <a:gdLst/>
              <a:ahLst/>
              <a:cxnLst/>
              <a:rect r="r" b="b" t="t" l="l"/>
              <a:pathLst>
                <a:path h="192951" w="1369846">
                  <a:moveTo>
                    <a:pt x="19770" y="0"/>
                  </a:moveTo>
                  <a:lnTo>
                    <a:pt x="1350076" y="0"/>
                  </a:lnTo>
                  <a:cubicBezTo>
                    <a:pt x="1360995" y="0"/>
                    <a:pt x="1369846" y="8851"/>
                    <a:pt x="1369846" y="19770"/>
                  </a:cubicBezTo>
                  <a:lnTo>
                    <a:pt x="1369846" y="173181"/>
                  </a:lnTo>
                  <a:cubicBezTo>
                    <a:pt x="1369846" y="184099"/>
                    <a:pt x="1360995" y="192951"/>
                    <a:pt x="1350076" y="192951"/>
                  </a:cubicBezTo>
                  <a:lnTo>
                    <a:pt x="19770" y="192951"/>
                  </a:lnTo>
                  <a:cubicBezTo>
                    <a:pt x="8851" y="192951"/>
                    <a:pt x="0" y="184099"/>
                    <a:pt x="0" y="173181"/>
                  </a:cubicBezTo>
                  <a:lnTo>
                    <a:pt x="0" y="19770"/>
                  </a:lnTo>
                  <a:cubicBezTo>
                    <a:pt x="0" y="8851"/>
                    <a:pt x="8851" y="0"/>
                    <a:pt x="19770" y="0"/>
                  </a:cubicBezTo>
                  <a:close/>
                </a:path>
              </a:pathLst>
            </a:custGeom>
            <a:solidFill>
              <a:srgbClr val="80C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369846" cy="231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95265" y="1646323"/>
            <a:ext cx="10977400" cy="1219524"/>
            <a:chOff x="0" y="0"/>
            <a:chExt cx="2891167" cy="3211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91167" cy="321191"/>
            </a:xfrm>
            <a:custGeom>
              <a:avLst/>
              <a:gdLst/>
              <a:ahLst/>
              <a:cxnLst/>
              <a:rect r="r" b="b" t="t" l="l"/>
              <a:pathLst>
                <a:path h="321191" w="2891167">
                  <a:moveTo>
                    <a:pt x="9168" y="0"/>
                  </a:moveTo>
                  <a:lnTo>
                    <a:pt x="2881999" y="0"/>
                  </a:lnTo>
                  <a:cubicBezTo>
                    <a:pt x="2887062" y="0"/>
                    <a:pt x="2891167" y="4105"/>
                    <a:pt x="2891167" y="9168"/>
                  </a:cubicBezTo>
                  <a:lnTo>
                    <a:pt x="2891167" y="312023"/>
                  </a:lnTo>
                  <a:cubicBezTo>
                    <a:pt x="2891167" y="317087"/>
                    <a:pt x="2887062" y="321191"/>
                    <a:pt x="2881999" y="321191"/>
                  </a:cubicBezTo>
                  <a:lnTo>
                    <a:pt x="9168" y="321191"/>
                  </a:lnTo>
                  <a:cubicBezTo>
                    <a:pt x="4105" y="321191"/>
                    <a:pt x="0" y="317087"/>
                    <a:pt x="0" y="312023"/>
                  </a:cubicBezTo>
                  <a:lnTo>
                    <a:pt x="0" y="9168"/>
                  </a:lnTo>
                  <a:cubicBezTo>
                    <a:pt x="0" y="4105"/>
                    <a:pt x="4105" y="0"/>
                    <a:pt x="9168" y="0"/>
                  </a:cubicBezTo>
                  <a:close/>
                </a:path>
              </a:pathLst>
            </a:custGeom>
            <a:solidFill>
              <a:srgbClr val="AFF3C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891167" cy="359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95265" y="3208746"/>
            <a:ext cx="4702063" cy="706062"/>
            <a:chOff x="0" y="0"/>
            <a:chExt cx="1265233" cy="18998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5233" cy="189987"/>
            </a:xfrm>
            <a:custGeom>
              <a:avLst/>
              <a:gdLst/>
              <a:ahLst/>
              <a:cxnLst/>
              <a:rect r="r" b="b" t="t" l="l"/>
              <a:pathLst>
                <a:path h="189987" w="1265233">
                  <a:moveTo>
                    <a:pt x="21404" y="0"/>
                  </a:moveTo>
                  <a:lnTo>
                    <a:pt x="1243828" y="0"/>
                  </a:lnTo>
                  <a:cubicBezTo>
                    <a:pt x="1255649" y="0"/>
                    <a:pt x="1265233" y="9583"/>
                    <a:pt x="1265233" y="21404"/>
                  </a:cubicBezTo>
                  <a:lnTo>
                    <a:pt x="1265233" y="168583"/>
                  </a:lnTo>
                  <a:cubicBezTo>
                    <a:pt x="1265233" y="174260"/>
                    <a:pt x="1262977" y="179704"/>
                    <a:pt x="1258963" y="183718"/>
                  </a:cubicBezTo>
                  <a:cubicBezTo>
                    <a:pt x="1254949" y="187732"/>
                    <a:pt x="1249505" y="189987"/>
                    <a:pt x="1243828" y="189987"/>
                  </a:cubicBezTo>
                  <a:lnTo>
                    <a:pt x="21404" y="189987"/>
                  </a:lnTo>
                  <a:cubicBezTo>
                    <a:pt x="9583" y="189987"/>
                    <a:pt x="0" y="180404"/>
                    <a:pt x="0" y="168583"/>
                  </a:cubicBezTo>
                  <a:lnTo>
                    <a:pt x="0" y="21404"/>
                  </a:lnTo>
                  <a:cubicBezTo>
                    <a:pt x="0" y="9583"/>
                    <a:pt x="9583" y="0"/>
                    <a:pt x="21404" y="0"/>
                  </a:cubicBezTo>
                  <a:close/>
                </a:path>
              </a:pathLst>
            </a:custGeom>
            <a:solidFill>
              <a:srgbClr val="80C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65233" cy="22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09995" y="3219758"/>
            <a:ext cx="5593467" cy="629412"/>
            <a:chOff x="0" y="0"/>
            <a:chExt cx="1505092" cy="1693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05092" cy="169362"/>
            </a:xfrm>
            <a:custGeom>
              <a:avLst/>
              <a:gdLst/>
              <a:ahLst/>
              <a:cxnLst/>
              <a:rect r="r" b="b" t="t" l="l"/>
              <a:pathLst>
                <a:path h="169362" w="1505092">
                  <a:moveTo>
                    <a:pt x="17993" y="0"/>
                  </a:moveTo>
                  <a:lnTo>
                    <a:pt x="1487099" y="0"/>
                  </a:lnTo>
                  <a:cubicBezTo>
                    <a:pt x="1497036" y="0"/>
                    <a:pt x="1505092" y="8056"/>
                    <a:pt x="1505092" y="17993"/>
                  </a:cubicBezTo>
                  <a:lnTo>
                    <a:pt x="1505092" y="151369"/>
                  </a:lnTo>
                  <a:cubicBezTo>
                    <a:pt x="1505092" y="156141"/>
                    <a:pt x="1503196" y="160718"/>
                    <a:pt x="1499822" y="164092"/>
                  </a:cubicBezTo>
                  <a:cubicBezTo>
                    <a:pt x="1496447" y="167467"/>
                    <a:pt x="1491871" y="169362"/>
                    <a:pt x="1487099" y="169362"/>
                  </a:cubicBezTo>
                  <a:lnTo>
                    <a:pt x="17993" y="169362"/>
                  </a:lnTo>
                  <a:cubicBezTo>
                    <a:pt x="13221" y="169362"/>
                    <a:pt x="8645" y="167467"/>
                    <a:pt x="5270" y="164092"/>
                  </a:cubicBezTo>
                  <a:cubicBezTo>
                    <a:pt x="1896" y="160718"/>
                    <a:pt x="0" y="156141"/>
                    <a:pt x="0" y="151369"/>
                  </a:cubicBezTo>
                  <a:lnTo>
                    <a:pt x="0" y="17993"/>
                  </a:lnTo>
                  <a:cubicBezTo>
                    <a:pt x="0" y="13221"/>
                    <a:pt x="1896" y="8645"/>
                    <a:pt x="5270" y="5270"/>
                  </a:cubicBezTo>
                  <a:cubicBezTo>
                    <a:pt x="8645" y="1896"/>
                    <a:pt x="13221" y="0"/>
                    <a:pt x="17993" y="0"/>
                  </a:cubicBezTo>
                  <a:close/>
                </a:path>
              </a:pathLst>
            </a:custGeom>
            <a:solidFill>
              <a:srgbClr val="80C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505092" cy="207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29416" y="4136994"/>
            <a:ext cx="5454914" cy="512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8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A</a:t>
            </a:r>
            <a:r>
              <a:rPr lang="en-US" b="true" sz="18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lgorithmic decision-support vs </a:t>
            </a:r>
          </a:p>
          <a:p>
            <a:pPr algn="ctr">
              <a:lnSpc>
                <a:spcPts val="2538"/>
              </a:lnSpc>
            </a:pPr>
            <a:r>
              <a:rPr lang="en-US" b="true" sz="18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manual paper planning</a:t>
            </a:r>
          </a:p>
          <a:p>
            <a:pPr algn="l">
              <a:lnSpc>
                <a:spcPts val="2258"/>
              </a:lnSpc>
            </a:pPr>
          </a:p>
          <a:p>
            <a:pPr algn="l" marL="348351" indent="-174176" lvl="1">
              <a:lnSpc>
                <a:spcPts val="2258"/>
              </a:lnSpc>
              <a:buFont typeface="Arial"/>
              <a:buChar char="•"/>
            </a:pPr>
            <a:r>
              <a:rPr lang="en-US" b="true" sz="16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Automated Planning Platform: </a:t>
            </a:r>
            <a:r>
              <a:rPr lang="en-US" sz="16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Integrates maintenance requests and reduces manual coordination and trail-and-error planning.</a:t>
            </a:r>
          </a:p>
          <a:p>
            <a:pPr algn="l" marL="348351" indent="-174176" lvl="1">
              <a:lnSpc>
                <a:spcPts val="2258"/>
              </a:lnSpc>
              <a:buFont typeface="Arial"/>
              <a:buChar char="•"/>
            </a:pPr>
            <a:r>
              <a:rPr lang="en-US" b="true" sz="16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Multi-Source Data Ingestion:</a:t>
            </a:r>
            <a:r>
              <a:rPr lang="en-US" sz="16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Integrates live Train Timetables (COA), Track Defects (TMS), Signalling (SMMS), and Overhead Equipment (TDMS).</a:t>
            </a:r>
          </a:p>
          <a:p>
            <a:pPr algn="l" marL="348351" indent="-174176" lvl="1">
              <a:lnSpc>
                <a:spcPts val="2258"/>
              </a:lnSpc>
              <a:buFont typeface="Arial"/>
              <a:buChar char="•"/>
            </a:pPr>
            <a:r>
              <a:rPr lang="en-US" b="true" sz="16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AI-Based Maintenance Prioritization:</a:t>
            </a:r>
            <a:r>
              <a:rPr lang="en-US" sz="16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Prioritizes maintenance tasks based on criticality, urgency and impact on asset availability.</a:t>
            </a:r>
          </a:p>
          <a:p>
            <a:pPr algn="l" marL="348351" indent="-174176" lvl="1">
              <a:lnSpc>
                <a:spcPts val="2258"/>
              </a:lnSpc>
              <a:buFont typeface="Arial"/>
              <a:buChar char="•"/>
            </a:pPr>
            <a:r>
              <a:rPr lang="en-US" b="true" sz="16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Multi-Horizon Rostering: </a:t>
            </a:r>
            <a:r>
              <a:rPr lang="en-US" sz="16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Generates high-level Monthly Maintenance Calendars and refined Weekly Block Rosters with dynamic real-time re-planning.</a:t>
            </a:r>
          </a:p>
          <a:p>
            <a:pPr algn="l" marL="348351" indent="-174176" lvl="1">
              <a:lnSpc>
                <a:spcPts val="2258"/>
              </a:lnSpc>
              <a:buFont typeface="Arial"/>
              <a:buChar char="•"/>
            </a:pPr>
            <a:r>
              <a:rPr lang="en-US" sz="16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Traffic-Aware Data: Integrates COA block availability, train timetable and goods-train forecast.</a:t>
            </a:r>
          </a:p>
          <a:p>
            <a:pPr algn="l">
              <a:lnSpc>
                <a:spcPts val="2258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820235" y="3403928"/>
            <a:ext cx="4801919" cy="31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6"/>
              </a:lnSpc>
              <a:spcBef>
                <a:spcPct val="0"/>
              </a:spcBef>
            </a:pPr>
            <a:r>
              <a:rPr lang="en-US" b="true" sz="205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Explaination of the Proposed Solution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79396" y="3336510"/>
            <a:ext cx="5424066" cy="31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6"/>
              </a:lnSpc>
              <a:spcBef>
                <a:spcPct val="0"/>
              </a:spcBef>
            </a:pPr>
            <a:r>
              <a:rPr lang="en-US" b="true" sz="205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Innovation and uniqueness of the solution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94761" y="3403928"/>
            <a:ext cx="3722724" cy="31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66"/>
              </a:lnSpc>
              <a:spcBef>
                <a:spcPct val="0"/>
              </a:spcBef>
            </a:pPr>
            <a:r>
              <a:rPr lang="en-US" b="true" sz="205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28990" y="4175094"/>
            <a:ext cx="5355478" cy="526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182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Breakthrough technical differentiators</a:t>
            </a:r>
          </a:p>
          <a:p>
            <a:pPr algn="l">
              <a:lnSpc>
                <a:spcPts val="1963"/>
              </a:lnSpc>
            </a:pPr>
          </a:p>
          <a:p>
            <a:pPr algn="l">
              <a:lnSpc>
                <a:spcPts val="1963"/>
              </a:lnSpc>
            </a:pP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63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"Shadow Blocking" &amp; Mega-Blocks: 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Track A closes for rail tamping, system automatically scans degraded S&amp;T / OHE assets (&lt;70% health) on Track A and bundles repairs into one joint closure.</a:t>
            </a:r>
          </a:p>
          <a:p>
            <a:pPr algn="l">
              <a:lnSpc>
                <a:spcPts val="1963"/>
              </a:lnSpc>
            </a:pPr>
          </a:p>
          <a:p>
            <a:pPr algn="l">
              <a:lnSpc>
                <a:spcPts val="1963"/>
              </a:lnSpc>
            </a:pP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63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Sliding-Window AI Optimizer: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Heuristic 24-hr scan in 30-minute steps computing Disruption Cost to recommend Top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conflict-free alternative slots.</a:t>
            </a:r>
          </a:p>
          <a:p>
            <a:pPr algn="l">
              <a:lnSpc>
                <a:spcPts val="1963"/>
              </a:lnSpc>
            </a:pPr>
          </a:p>
          <a:p>
            <a:pPr algn="l">
              <a:lnSpc>
                <a:spcPts val="1963"/>
              </a:lnSpc>
            </a:pP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63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Explainable AI (XAI):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Gives plain-English operational reasoning for each recommendation ("Zero train conflicts,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bundles 3 assets, saves 270 min").</a:t>
            </a:r>
          </a:p>
          <a:p>
            <a:pPr algn="l">
              <a:lnSpc>
                <a:spcPts val="1963"/>
              </a:lnSpc>
            </a:pPr>
          </a:p>
          <a:p>
            <a:pPr algn="l">
              <a:lnSpc>
                <a:spcPts val="1963"/>
              </a:lnSpc>
            </a:pP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63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Northern Railway Validation: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Tested on Delhi–Ghaziabad Quadruple Trunk Corridor (11 clashes → 0; 8.5h downtime restored; 270 min saved)</a:t>
            </a:r>
          </a:p>
          <a:p>
            <a:pPr algn="l">
              <a:lnSpc>
                <a:spcPts val="1963"/>
              </a:lnSpc>
            </a:pP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+ OHE + S&amp;T → Compatible works → Common Coordinated Block</a:t>
            </a:r>
            <a:r>
              <a:rPr lang="en-US" sz="16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1963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6910223" y="1827621"/>
            <a:ext cx="1064082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SOLUTION in short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 intelligent railway scheduling system that a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alyz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train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asset health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anc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requests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 co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s,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find optimal maintenance windows, and coor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ate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 into unified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Corridor Mega-Blocks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AutoShape 46" id="46"/>
          <p:cNvSpPr/>
          <p:nvPr/>
        </p:nvSpPr>
        <p:spPr>
          <a:xfrm flipV="true">
            <a:off x="475612" y="3065871"/>
            <a:ext cx="17297054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475612" y="1646323"/>
            <a:ext cx="6006016" cy="1219524"/>
            <a:chOff x="0" y="0"/>
            <a:chExt cx="1581831" cy="3211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1831" cy="321191"/>
            </a:xfrm>
            <a:custGeom>
              <a:avLst/>
              <a:gdLst/>
              <a:ahLst/>
              <a:cxnLst/>
              <a:rect r="r" b="b" t="t" l="l"/>
              <a:pathLst>
                <a:path h="321191" w="1581831">
                  <a:moveTo>
                    <a:pt x="16757" y="0"/>
                  </a:moveTo>
                  <a:lnTo>
                    <a:pt x="1565074" y="0"/>
                  </a:lnTo>
                  <a:cubicBezTo>
                    <a:pt x="1569518" y="0"/>
                    <a:pt x="1573781" y="1766"/>
                    <a:pt x="1576923" y="4908"/>
                  </a:cubicBezTo>
                  <a:cubicBezTo>
                    <a:pt x="1580066" y="8051"/>
                    <a:pt x="1581831" y="12313"/>
                    <a:pt x="1581831" y="16757"/>
                  </a:cubicBezTo>
                  <a:lnTo>
                    <a:pt x="1581831" y="304434"/>
                  </a:lnTo>
                  <a:cubicBezTo>
                    <a:pt x="1581831" y="308878"/>
                    <a:pt x="1580066" y="313141"/>
                    <a:pt x="1576923" y="316283"/>
                  </a:cubicBezTo>
                  <a:cubicBezTo>
                    <a:pt x="1573781" y="319426"/>
                    <a:pt x="1569518" y="321191"/>
                    <a:pt x="1565074" y="321191"/>
                  </a:cubicBezTo>
                  <a:lnTo>
                    <a:pt x="16757" y="321191"/>
                  </a:lnTo>
                  <a:cubicBezTo>
                    <a:pt x="12313" y="321191"/>
                    <a:pt x="8051" y="319426"/>
                    <a:pt x="4908" y="316283"/>
                  </a:cubicBezTo>
                  <a:cubicBezTo>
                    <a:pt x="1766" y="313141"/>
                    <a:pt x="0" y="308878"/>
                    <a:pt x="0" y="304434"/>
                  </a:cubicBezTo>
                  <a:lnTo>
                    <a:pt x="0" y="16757"/>
                  </a:lnTo>
                  <a:cubicBezTo>
                    <a:pt x="0" y="12313"/>
                    <a:pt x="1766" y="8051"/>
                    <a:pt x="4908" y="4908"/>
                  </a:cubicBezTo>
                  <a:cubicBezTo>
                    <a:pt x="8051" y="1766"/>
                    <a:pt x="12313" y="0"/>
                    <a:pt x="16757" y="0"/>
                  </a:cubicBezTo>
                  <a:close/>
                </a:path>
              </a:pathLst>
            </a:custGeom>
            <a:solidFill>
              <a:srgbClr val="FFABAB">
                <a:alpha val="63137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581831" cy="340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675773" y="1827621"/>
            <a:ext cx="563640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H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 can Indian Railways intelligently coordinate maintenance blocks to avoid train conflicts, repeated track closures, delays, and asset downtime?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9661" y="21298"/>
            <a:ext cx="2660637" cy="1256302"/>
            <a:chOff x="0" y="0"/>
            <a:chExt cx="4499699" cy="2124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12369275" y="2374025"/>
            <a:ext cx="6198763" cy="4120212"/>
          </a:xfrm>
          <a:custGeom>
            <a:avLst/>
            <a:gdLst/>
            <a:ahLst/>
            <a:cxnLst/>
            <a:rect r="r" b="b" t="t" l="l"/>
            <a:pathLst>
              <a:path h="4120212" w="6198763">
                <a:moveTo>
                  <a:pt x="0" y="0"/>
                </a:moveTo>
                <a:lnTo>
                  <a:pt x="6198763" y="0"/>
                </a:lnTo>
                <a:lnTo>
                  <a:pt x="6198763" y="4120212"/>
                </a:lnTo>
                <a:lnTo>
                  <a:pt x="0" y="4120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878" t="-67929" r="-31064" b="-58588"/>
            </a:stretch>
          </a:blipFill>
          <a:ln w="57150" cap="rnd">
            <a:solidFill>
              <a:srgbClr val="B6F1C5"/>
            </a:solidFill>
            <a:prstDash val="solid"/>
            <a:round/>
          </a:ln>
        </p:spPr>
      </p:sp>
      <p:grpSp>
        <p:nvGrpSpPr>
          <p:cNvPr name="Group 5" id="5"/>
          <p:cNvGrpSpPr/>
          <p:nvPr/>
        </p:nvGrpSpPr>
        <p:grpSpPr>
          <a:xfrm rot="0">
            <a:off x="15394103" y="2567181"/>
            <a:ext cx="149106" cy="184817"/>
            <a:chOff x="0" y="0"/>
            <a:chExt cx="406400" cy="503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94103" y="3078612"/>
            <a:ext cx="149106" cy="184817"/>
            <a:chOff x="0" y="0"/>
            <a:chExt cx="406400" cy="5037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08283" y="3573765"/>
            <a:ext cx="149106" cy="184817"/>
            <a:chOff x="0" y="0"/>
            <a:chExt cx="406400" cy="5037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08283" y="4065011"/>
            <a:ext cx="149106" cy="184817"/>
            <a:chOff x="0" y="0"/>
            <a:chExt cx="406400" cy="5037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408283" y="4597100"/>
            <a:ext cx="149106" cy="184817"/>
            <a:chOff x="0" y="0"/>
            <a:chExt cx="406400" cy="503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408283" y="5089696"/>
            <a:ext cx="149106" cy="184817"/>
            <a:chOff x="0" y="0"/>
            <a:chExt cx="406400" cy="5037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08283" y="5603126"/>
            <a:ext cx="149106" cy="184817"/>
            <a:chOff x="0" y="0"/>
            <a:chExt cx="406400" cy="5037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408283" y="6110138"/>
            <a:ext cx="149106" cy="184817"/>
            <a:chOff x="0" y="0"/>
            <a:chExt cx="406400" cy="5037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408283" y="6612045"/>
            <a:ext cx="149106" cy="184817"/>
            <a:chOff x="0" y="0"/>
            <a:chExt cx="406400" cy="5037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6400" cy="503731"/>
            </a:xfrm>
            <a:custGeom>
              <a:avLst/>
              <a:gdLst/>
              <a:ahLst/>
              <a:cxnLst/>
              <a:rect r="r" b="b" t="t" l="l"/>
              <a:pathLst>
                <a:path h="503731" w="406400">
                  <a:moveTo>
                    <a:pt x="203200" y="503731"/>
                  </a:moveTo>
                  <a:lnTo>
                    <a:pt x="0" y="97331"/>
                  </a:lnTo>
                  <a:lnTo>
                    <a:pt x="203200" y="97331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203200" y="97331"/>
                  </a:lnTo>
                  <a:lnTo>
                    <a:pt x="406400" y="97331"/>
                  </a:lnTo>
                  <a:lnTo>
                    <a:pt x="203200" y="503731"/>
                  </a:lnTo>
                  <a:close/>
                </a:path>
              </a:pathLst>
            </a:custGeom>
            <a:solidFill>
              <a:srgbClr val="6869C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203200" y="-19050"/>
              <a:ext cx="0" cy="4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3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-5400000">
            <a:off x="7935648" y="75396"/>
            <a:ext cx="2338050" cy="17597184"/>
          </a:xfrm>
          <a:custGeom>
            <a:avLst/>
            <a:gdLst/>
            <a:ahLst/>
            <a:cxnLst/>
            <a:rect r="r" b="b" t="t" l="l"/>
            <a:pathLst>
              <a:path h="17597184" w="2338050">
                <a:moveTo>
                  <a:pt x="0" y="0"/>
                </a:moveTo>
                <a:lnTo>
                  <a:pt x="2338050" y="0"/>
                </a:lnTo>
                <a:lnTo>
                  <a:pt x="2338050" y="17597183"/>
                </a:lnTo>
                <a:lnTo>
                  <a:pt x="0" y="17597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1499" t="-35824" r="-696724" b="-5764"/>
            </a:stretch>
          </a:blipFill>
          <a:ln w="57150" cap="rnd">
            <a:solidFill>
              <a:srgbClr val="B6F1C5"/>
            </a:solidFill>
            <a:prstDash val="solid"/>
            <a:round/>
          </a:ln>
        </p:spPr>
      </p:sp>
      <p:sp>
        <p:nvSpPr>
          <p:cNvPr name="Freeform 33" id="33"/>
          <p:cNvSpPr/>
          <p:nvPr/>
        </p:nvSpPr>
        <p:spPr>
          <a:xfrm flipH="false" flipV="false" rot="-5400000">
            <a:off x="3711724" y="-1822908"/>
            <a:ext cx="6138237" cy="12574603"/>
          </a:xfrm>
          <a:custGeom>
            <a:avLst/>
            <a:gdLst/>
            <a:ahLst/>
            <a:cxnLst/>
            <a:rect r="r" b="b" t="t" l="l"/>
            <a:pathLst>
              <a:path h="12574603" w="6138237">
                <a:moveTo>
                  <a:pt x="0" y="0"/>
                </a:moveTo>
                <a:lnTo>
                  <a:pt x="6138237" y="0"/>
                </a:lnTo>
                <a:lnTo>
                  <a:pt x="6138237" y="12574604"/>
                </a:lnTo>
                <a:lnTo>
                  <a:pt x="0" y="12574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918" t="-26125" r="-94092" b="-2854"/>
            </a:stretch>
          </a:blipFill>
          <a:ln w="57150" cap="rnd">
            <a:solidFill>
              <a:srgbClr val="C0A1FB"/>
            </a:solidFill>
            <a:prstDash val="solid"/>
            <a:round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4615336" y="2244353"/>
            <a:ext cx="1735000" cy="384864"/>
          </a:xfrm>
          <a:custGeom>
            <a:avLst/>
            <a:gdLst/>
            <a:ahLst/>
            <a:cxnLst/>
            <a:rect r="r" b="b" t="t" l="l"/>
            <a:pathLst>
              <a:path h="384864" w="1735000">
                <a:moveTo>
                  <a:pt x="0" y="0"/>
                </a:moveTo>
                <a:lnTo>
                  <a:pt x="1735001" y="0"/>
                </a:lnTo>
                <a:lnTo>
                  <a:pt x="1735001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362" t="-468415" r="-83920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4416110" y="2751998"/>
            <a:ext cx="2133453" cy="384864"/>
          </a:xfrm>
          <a:custGeom>
            <a:avLst/>
            <a:gdLst/>
            <a:ahLst/>
            <a:cxnLst/>
            <a:rect r="r" b="b" t="t" l="l"/>
            <a:pathLst>
              <a:path h="384864" w="2133453">
                <a:moveTo>
                  <a:pt x="0" y="0"/>
                </a:moveTo>
                <a:lnTo>
                  <a:pt x="2133453" y="0"/>
                </a:lnTo>
                <a:lnTo>
                  <a:pt x="2133453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963" t="-468415" r="-50575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4615336" y="3254122"/>
            <a:ext cx="1735000" cy="384864"/>
          </a:xfrm>
          <a:custGeom>
            <a:avLst/>
            <a:gdLst/>
            <a:ahLst/>
            <a:cxnLst/>
            <a:rect r="r" b="b" t="t" l="l"/>
            <a:pathLst>
              <a:path h="384864" w="1735000">
                <a:moveTo>
                  <a:pt x="0" y="0"/>
                </a:moveTo>
                <a:lnTo>
                  <a:pt x="1735001" y="0"/>
                </a:lnTo>
                <a:lnTo>
                  <a:pt x="1735001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362" t="-468415" r="-83920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14615336" y="3758582"/>
            <a:ext cx="1735000" cy="384864"/>
          </a:xfrm>
          <a:custGeom>
            <a:avLst/>
            <a:gdLst/>
            <a:ahLst/>
            <a:cxnLst/>
            <a:rect r="r" b="b" t="t" l="l"/>
            <a:pathLst>
              <a:path h="384864" w="1735000">
                <a:moveTo>
                  <a:pt x="0" y="0"/>
                </a:moveTo>
                <a:lnTo>
                  <a:pt x="1735001" y="0"/>
                </a:lnTo>
                <a:lnTo>
                  <a:pt x="1735001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362" t="-468415" r="-83920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4370587" y="4263041"/>
            <a:ext cx="2224500" cy="384864"/>
          </a:xfrm>
          <a:custGeom>
            <a:avLst/>
            <a:gdLst/>
            <a:ahLst/>
            <a:cxnLst/>
            <a:rect r="r" b="b" t="t" l="l"/>
            <a:pathLst>
              <a:path h="384864" w="2224500">
                <a:moveTo>
                  <a:pt x="0" y="0"/>
                </a:moveTo>
                <a:lnTo>
                  <a:pt x="2224499" y="0"/>
                </a:lnTo>
                <a:lnTo>
                  <a:pt x="2224499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575" t="-468415" r="-44632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4615336" y="4767500"/>
            <a:ext cx="1735000" cy="384864"/>
          </a:xfrm>
          <a:custGeom>
            <a:avLst/>
            <a:gdLst/>
            <a:ahLst/>
            <a:cxnLst/>
            <a:rect r="r" b="b" t="t" l="l"/>
            <a:pathLst>
              <a:path h="384864" w="1735000">
                <a:moveTo>
                  <a:pt x="0" y="0"/>
                </a:moveTo>
                <a:lnTo>
                  <a:pt x="1735001" y="0"/>
                </a:lnTo>
                <a:lnTo>
                  <a:pt x="1735001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362" t="-468415" r="-83920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4615336" y="5283484"/>
            <a:ext cx="1735000" cy="384864"/>
          </a:xfrm>
          <a:custGeom>
            <a:avLst/>
            <a:gdLst/>
            <a:ahLst/>
            <a:cxnLst/>
            <a:rect r="r" b="b" t="t" l="l"/>
            <a:pathLst>
              <a:path h="384864" w="1735000">
                <a:moveTo>
                  <a:pt x="0" y="0"/>
                </a:moveTo>
                <a:lnTo>
                  <a:pt x="1735001" y="0"/>
                </a:lnTo>
                <a:lnTo>
                  <a:pt x="1735001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362" t="-468415" r="-83920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4615336" y="5787943"/>
            <a:ext cx="1735000" cy="384864"/>
          </a:xfrm>
          <a:custGeom>
            <a:avLst/>
            <a:gdLst/>
            <a:ahLst/>
            <a:cxnLst/>
            <a:rect r="r" b="b" t="t" l="l"/>
            <a:pathLst>
              <a:path h="384864" w="1735000">
                <a:moveTo>
                  <a:pt x="0" y="0"/>
                </a:moveTo>
                <a:lnTo>
                  <a:pt x="1735001" y="0"/>
                </a:lnTo>
                <a:lnTo>
                  <a:pt x="1735001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362" t="-468415" r="-83920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4313310" y="6815894"/>
            <a:ext cx="2236253" cy="326562"/>
          </a:xfrm>
          <a:custGeom>
            <a:avLst/>
            <a:gdLst/>
            <a:ahLst/>
            <a:cxnLst/>
            <a:rect r="r" b="b" t="t" l="l"/>
            <a:pathLst>
              <a:path h="326562" w="2236253">
                <a:moveTo>
                  <a:pt x="0" y="0"/>
                </a:moveTo>
                <a:lnTo>
                  <a:pt x="2236253" y="0"/>
                </a:lnTo>
                <a:lnTo>
                  <a:pt x="2236253" y="326562"/>
                </a:lnTo>
                <a:lnTo>
                  <a:pt x="0" y="326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684" t="-323157" r="-9914" b="-328166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3725237" y="6291053"/>
            <a:ext cx="3486837" cy="384864"/>
          </a:xfrm>
          <a:custGeom>
            <a:avLst/>
            <a:gdLst/>
            <a:ahLst/>
            <a:cxnLst/>
            <a:rect r="r" b="b" t="t" l="l"/>
            <a:pathLst>
              <a:path h="384864" w="3486837">
                <a:moveTo>
                  <a:pt x="0" y="0"/>
                </a:moveTo>
                <a:lnTo>
                  <a:pt x="3486838" y="0"/>
                </a:lnTo>
                <a:lnTo>
                  <a:pt x="3486838" y="384864"/>
                </a:lnTo>
                <a:lnTo>
                  <a:pt x="0" y="384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900" t="-468415" r="-16636" b="-475374"/>
            </a:stretch>
          </a:blipFill>
          <a:ln w="19050" cap="sq">
            <a:solidFill>
              <a:srgbClr val="D9C1FF"/>
            </a:solidFill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1365164" y="2886192"/>
            <a:ext cx="1896746" cy="2372497"/>
          </a:xfrm>
          <a:custGeom>
            <a:avLst/>
            <a:gdLst/>
            <a:ahLst/>
            <a:cxnLst/>
            <a:rect r="r" b="b" t="t" l="l"/>
            <a:pathLst>
              <a:path h="2372497" w="1896746">
                <a:moveTo>
                  <a:pt x="0" y="0"/>
                </a:moveTo>
                <a:lnTo>
                  <a:pt x="1896745" y="0"/>
                </a:lnTo>
                <a:lnTo>
                  <a:pt x="1896745" y="2372498"/>
                </a:lnTo>
                <a:lnTo>
                  <a:pt x="0" y="2372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51378" y="3728147"/>
            <a:ext cx="676068" cy="795006"/>
          </a:xfrm>
          <a:custGeom>
            <a:avLst/>
            <a:gdLst/>
            <a:ahLst/>
            <a:cxnLst/>
            <a:rect r="r" b="b" t="t" l="l"/>
            <a:pathLst>
              <a:path h="795006" w="676068">
                <a:moveTo>
                  <a:pt x="0" y="0"/>
                </a:moveTo>
                <a:lnTo>
                  <a:pt x="676068" y="0"/>
                </a:lnTo>
                <a:lnTo>
                  <a:pt x="676068" y="795006"/>
                </a:lnTo>
                <a:lnTo>
                  <a:pt x="0" y="7950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27446" y="4125650"/>
            <a:ext cx="275435" cy="231616"/>
          </a:xfrm>
          <a:custGeom>
            <a:avLst/>
            <a:gdLst/>
            <a:ahLst/>
            <a:cxnLst/>
            <a:rect r="r" b="b" t="t" l="l"/>
            <a:pathLst>
              <a:path h="231616" w="275435">
                <a:moveTo>
                  <a:pt x="0" y="0"/>
                </a:moveTo>
                <a:lnTo>
                  <a:pt x="275435" y="0"/>
                </a:lnTo>
                <a:lnTo>
                  <a:pt x="275435" y="231616"/>
                </a:lnTo>
                <a:lnTo>
                  <a:pt x="0" y="231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903514" y="3674938"/>
            <a:ext cx="813785" cy="795006"/>
          </a:xfrm>
          <a:custGeom>
            <a:avLst/>
            <a:gdLst/>
            <a:ahLst/>
            <a:cxnLst/>
            <a:rect r="r" b="b" t="t" l="l"/>
            <a:pathLst>
              <a:path h="795006" w="813785">
                <a:moveTo>
                  <a:pt x="0" y="0"/>
                </a:moveTo>
                <a:lnTo>
                  <a:pt x="813785" y="0"/>
                </a:lnTo>
                <a:lnTo>
                  <a:pt x="813785" y="795006"/>
                </a:lnTo>
                <a:lnTo>
                  <a:pt x="0" y="7950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2041231" y="4463684"/>
            <a:ext cx="676068" cy="682328"/>
          </a:xfrm>
          <a:custGeom>
            <a:avLst/>
            <a:gdLst/>
            <a:ahLst/>
            <a:cxnLst/>
            <a:rect r="r" b="b" t="t" l="l"/>
            <a:pathLst>
              <a:path h="682328" w="676068">
                <a:moveTo>
                  <a:pt x="0" y="0"/>
                </a:moveTo>
                <a:lnTo>
                  <a:pt x="676068" y="0"/>
                </a:lnTo>
                <a:lnTo>
                  <a:pt x="676068" y="682328"/>
                </a:lnTo>
                <a:lnTo>
                  <a:pt x="0" y="682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255650" y="2886192"/>
            <a:ext cx="2159661" cy="2372497"/>
          </a:xfrm>
          <a:custGeom>
            <a:avLst/>
            <a:gdLst/>
            <a:ahLst/>
            <a:cxnLst/>
            <a:rect r="r" b="b" t="t" l="l"/>
            <a:pathLst>
              <a:path h="2372497" w="2159661">
                <a:moveTo>
                  <a:pt x="0" y="0"/>
                </a:moveTo>
                <a:lnTo>
                  <a:pt x="2159661" y="0"/>
                </a:lnTo>
                <a:lnTo>
                  <a:pt x="2159661" y="2372498"/>
                </a:lnTo>
                <a:lnTo>
                  <a:pt x="0" y="2372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3698217" y="3522420"/>
            <a:ext cx="1266162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"/>
              </a:lnSpc>
            </a:pPr>
            <a:r>
              <a:rPr lang="en-US" sz="1158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(Multi-track Gantt)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3387107" y="3674938"/>
            <a:ext cx="1896746" cy="1358396"/>
          </a:xfrm>
          <a:custGeom>
            <a:avLst/>
            <a:gdLst/>
            <a:ahLst/>
            <a:cxnLst/>
            <a:rect r="r" b="b" t="t" l="l"/>
            <a:pathLst>
              <a:path h="1358396" w="1896746">
                <a:moveTo>
                  <a:pt x="0" y="0"/>
                </a:moveTo>
                <a:lnTo>
                  <a:pt x="1896746" y="0"/>
                </a:lnTo>
                <a:lnTo>
                  <a:pt x="1896746" y="1358396"/>
                </a:lnTo>
                <a:lnTo>
                  <a:pt x="0" y="13583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3117932" y="4125650"/>
            <a:ext cx="275435" cy="231616"/>
          </a:xfrm>
          <a:custGeom>
            <a:avLst/>
            <a:gdLst/>
            <a:ahLst/>
            <a:cxnLst/>
            <a:rect r="r" b="b" t="t" l="l"/>
            <a:pathLst>
              <a:path h="231616" w="275435">
                <a:moveTo>
                  <a:pt x="0" y="0"/>
                </a:moveTo>
                <a:lnTo>
                  <a:pt x="275435" y="0"/>
                </a:lnTo>
                <a:lnTo>
                  <a:pt x="275435" y="231616"/>
                </a:lnTo>
                <a:lnTo>
                  <a:pt x="0" y="2316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409051" y="2886192"/>
            <a:ext cx="1896746" cy="2372497"/>
          </a:xfrm>
          <a:custGeom>
            <a:avLst/>
            <a:gdLst/>
            <a:ahLst/>
            <a:cxnLst/>
            <a:rect r="r" b="b" t="t" l="l"/>
            <a:pathLst>
              <a:path h="2372497" w="1896746">
                <a:moveTo>
                  <a:pt x="0" y="0"/>
                </a:moveTo>
                <a:lnTo>
                  <a:pt x="1896746" y="0"/>
                </a:lnTo>
                <a:lnTo>
                  <a:pt x="1896746" y="2372498"/>
                </a:lnTo>
                <a:lnTo>
                  <a:pt x="0" y="2372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546768" y="3674938"/>
            <a:ext cx="1627571" cy="569650"/>
          </a:xfrm>
          <a:custGeom>
            <a:avLst/>
            <a:gdLst/>
            <a:ahLst/>
            <a:cxnLst/>
            <a:rect r="r" b="b" t="t" l="l"/>
            <a:pathLst>
              <a:path h="569650" w="1627571">
                <a:moveTo>
                  <a:pt x="0" y="0"/>
                </a:moveTo>
                <a:lnTo>
                  <a:pt x="1627571" y="0"/>
                </a:lnTo>
                <a:lnTo>
                  <a:pt x="1627571" y="569650"/>
                </a:lnTo>
                <a:lnTo>
                  <a:pt x="0" y="569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546768" y="4125650"/>
            <a:ext cx="1627571" cy="456972"/>
          </a:xfrm>
          <a:custGeom>
            <a:avLst/>
            <a:gdLst/>
            <a:ahLst/>
            <a:cxnLst/>
            <a:rect r="r" b="b" t="t" l="l"/>
            <a:pathLst>
              <a:path h="456972" w="1627571">
                <a:moveTo>
                  <a:pt x="0" y="0"/>
                </a:moveTo>
                <a:lnTo>
                  <a:pt x="1627571" y="0"/>
                </a:lnTo>
                <a:lnTo>
                  <a:pt x="1627571" y="456972"/>
                </a:lnTo>
                <a:lnTo>
                  <a:pt x="0" y="4569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546768" y="4576362"/>
            <a:ext cx="1627571" cy="456972"/>
          </a:xfrm>
          <a:custGeom>
            <a:avLst/>
            <a:gdLst/>
            <a:ahLst/>
            <a:cxnLst/>
            <a:rect r="r" b="b" t="t" l="l"/>
            <a:pathLst>
              <a:path h="456972" w="1627571">
                <a:moveTo>
                  <a:pt x="0" y="0"/>
                </a:moveTo>
                <a:lnTo>
                  <a:pt x="1627571" y="0"/>
                </a:lnTo>
                <a:lnTo>
                  <a:pt x="1627571" y="456972"/>
                </a:lnTo>
                <a:lnTo>
                  <a:pt x="0" y="4569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139876" y="4125650"/>
            <a:ext cx="413153" cy="231616"/>
          </a:xfrm>
          <a:custGeom>
            <a:avLst/>
            <a:gdLst/>
            <a:ahLst/>
            <a:cxnLst/>
            <a:rect r="r" b="b" t="t" l="l"/>
            <a:pathLst>
              <a:path h="231616" w="413153">
                <a:moveTo>
                  <a:pt x="0" y="0"/>
                </a:moveTo>
                <a:lnTo>
                  <a:pt x="413152" y="0"/>
                </a:lnTo>
                <a:lnTo>
                  <a:pt x="413152" y="231616"/>
                </a:lnTo>
                <a:lnTo>
                  <a:pt x="0" y="23161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7299537" y="2886192"/>
            <a:ext cx="2303639" cy="2372497"/>
          </a:xfrm>
          <a:custGeom>
            <a:avLst/>
            <a:gdLst/>
            <a:ahLst/>
            <a:cxnLst/>
            <a:rect r="r" b="b" t="t" l="l"/>
            <a:pathLst>
              <a:path h="2372497" w="2303639">
                <a:moveTo>
                  <a:pt x="0" y="0"/>
                </a:moveTo>
                <a:lnTo>
                  <a:pt x="2303639" y="0"/>
                </a:lnTo>
                <a:lnTo>
                  <a:pt x="2303639" y="2372498"/>
                </a:lnTo>
                <a:lnTo>
                  <a:pt x="0" y="23724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7437254" y="3562260"/>
            <a:ext cx="2028204" cy="682328"/>
          </a:xfrm>
          <a:custGeom>
            <a:avLst/>
            <a:gdLst/>
            <a:ahLst/>
            <a:cxnLst/>
            <a:rect r="r" b="b" t="t" l="l"/>
            <a:pathLst>
              <a:path h="682328" w="2028204">
                <a:moveTo>
                  <a:pt x="0" y="0"/>
                </a:moveTo>
                <a:lnTo>
                  <a:pt x="2028204" y="0"/>
                </a:lnTo>
                <a:lnTo>
                  <a:pt x="2028204" y="682328"/>
                </a:lnTo>
                <a:lnTo>
                  <a:pt x="0" y="68232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7437254" y="4238328"/>
            <a:ext cx="2028204" cy="456972"/>
          </a:xfrm>
          <a:custGeom>
            <a:avLst/>
            <a:gdLst/>
            <a:ahLst/>
            <a:cxnLst/>
            <a:rect r="r" b="b" t="t" l="l"/>
            <a:pathLst>
              <a:path h="456972" w="2028204">
                <a:moveTo>
                  <a:pt x="0" y="0"/>
                </a:moveTo>
                <a:lnTo>
                  <a:pt x="2028204" y="0"/>
                </a:lnTo>
                <a:lnTo>
                  <a:pt x="2028204" y="456972"/>
                </a:lnTo>
                <a:lnTo>
                  <a:pt x="0" y="4569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7437254" y="4689040"/>
            <a:ext cx="2028204" cy="456972"/>
          </a:xfrm>
          <a:custGeom>
            <a:avLst/>
            <a:gdLst/>
            <a:ahLst/>
            <a:cxnLst/>
            <a:rect r="r" b="b" t="t" l="l"/>
            <a:pathLst>
              <a:path h="456972" w="2028204">
                <a:moveTo>
                  <a:pt x="0" y="0"/>
                </a:moveTo>
                <a:lnTo>
                  <a:pt x="2028204" y="0"/>
                </a:lnTo>
                <a:lnTo>
                  <a:pt x="2028204" y="456972"/>
                </a:lnTo>
                <a:lnTo>
                  <a:pt x="0" y="45697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7168079" y="4125650"/>
            <a:ext cx="275435" cy="231616"/>
          </a:xfrm>
          <a:custGeom>
            <a:avLst/>
            <a:gdLst/>
            <a:ahLst/>
            <a:cxnLst/>
            <a:rect r="r" b="b" t="t" l="l"/>
            <a:pathLst>
              <a:path h="231616" w="275435">
                <a:moveTo>
                  <a:pt x="0" y="0"/>
                </a:moveTo>
                <a:lnTo>
                  <a:pt x="275435" y="0"/>
                </a:lnTo>
                <a:lnTo>
                  <a:pt x="275435" y="231616"/>
                </a:lnTo>
                <a:lnTo>
                  <a:pt x="0" y="23161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9596916" y="2886192"/>
            <a:ext cx="1890486" cy="2034463"/>
          </a:xfrm>
          <a:custGeom>
            <a:avLst/>
            <a:gdLst/>
            <a:ahLst/>
            <a:cxnLst/>
            <a:rect r="r" b="b" t="t" l="l"/>
            <a:pathLst>
              <a:path h="2034463" w="1890486">
                <a:moveTo>
                  <a:pt x="0" y="0"/>
                </a:moveTo>
                <a:lnTo>
                  <a:pt x="1890486" y="0"/>
                </a:lnTo>
                <a:lnTo>
                  <a:pt x="1890486" y="2034464"/>
                </a:lnTo>
                <a:lnTo>
                  <a:pt x="0" y="203446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9997548" y="3674938"/>
            <a:ext cx="1089220" cy="1133040"/>
          </a:xfrm>
          <a:custGeom>
            <a:avLst/>
            <a:gdLst/>
            <a:ahLst/>
            <a:cxnLst/>
            <a:rect r="r" b="b" t="t" l="l"/>
            <a:pathLst>
              <a:path h="1133040" w="1089220">
                <a:moveTo>
                  <a:pt x="0" y="0"/>
                </a:moveTo>
                <a:lnTo>
                  <a:pt x="1089221" y="0"/>
                </a:lnTo>
                <a:lnTo>
                  <a:pt x="1089221" y="1133040"/>
                </a:lnTo>
                <a:lnTo>
                  <a:pt x="0" y="113304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9459198" y="4125650"/>
            <a:ext cx="413153" cy="231616"/>
          </a:xfrm>
          <a:custGeom>
            <a:avLst/>
            <a:gdLst/>
            <a:ahLst/>
            <a:cxnLst/>
            <a:rect r="r" b="b" t="t" l="l"/>
            <a:pathLst>
              <a:path h="231616" w="413153">
                <a:moveTo>
                  <a:pt x="0" y="0"/>
                </a:moveTo>
                <a:lnTo>
                  <a:pt x="413153" y="0"/>
                </a:lnTo>
                <a:lnTo>
                  <a:pt x="413153" y="231616"/>
                </a:lnTo>
                <a:lnTo>
                  <a:pt x="0" y="23161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1349684" y="4125650"/>
            <a:ext cx="413153" cy="231616"/>
          </a:xfrm>
          <a:custGeom>
            <a:avLst/>
            <a:gdLst/>
            <a:ahLst/>
            <a:cxnLst/>
            <a:rect r="r" b="b" t="t" l="l"/>
            <a:pathLst>
              <a:path h="231616" w="413153">
                <a:moveTo>
                  <a:pt x="0" y="0"/>
                </a:moveTo>
                <a:lnTo>
                  <a:pt x="413153" y="0"/>
                </a:lnTo>
                <a:lnTo>
                  <a:pt x="413153" y="231616"/>
                </a:lnTo>
                <a:lnTo>
                  <a:pt x="0" y="23161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1756577" y="3674938"/>
            <a:ext cx="945243" cy="1133040"/>
          </a:xfrm>
          <a:custGeom>
            <a:avLst/>
            <a:gdLst/>
            <a:ahLst/>
            <a:cxnLst/>
            <a:rect r="r" b="b" t="t" l="l"/>
            <a:pathLst>
              <a:path h="1133040" w="945243">
                <a:moveTo>
                  <a:pt x="0" y="0"/>
                </a:moveTo>
                <a:lnTo>
                  <a:pt x="945243" y="0"/>
                </a:lnTo>
                <a:lnTo>
                  <a:pt x="945243" y="1133040"/>
                </a:lnTo>
                <a:lnTo>
                  <a:pt x="0" y="113304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2157210" y="4689040"/>
            <a:ext cx="275435" cy="344294"/>
          </a:xfrm>
          <a:custGeom>
            <a:avLst/>
            <a:gdLst/>
            <a:ahLst/>
            <a:cxnLst/>
            <a:rect r="r" b="b" t="t" l="l"/>
            <a:pathLst>
              <a:path h="344294" w="275435">
                <a:moveTo>
                  <a:pt x="0" y="0"/>
                </a:moveTo>
                <a:lnTo>
                  <a:pt x="275435" y="0"/>
                </a:lnTo>
                <a:lnTo>
                  <a:pt x="275435" y="344294"/>
                </a:lnTo>
                <a:lnTo>
                  <a:pt x="0" y="34429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5409051" y="5365108"/>
            <a:ext cx="1765288" cy="1358396"/>
          </a:xfrm>
          <a:custGeom>
            <a:avLst/>
            <a:gdLst/>
            <a:ahLst/>
            <a:cxnLst/>
            <a:rect r="r" b="b" t="t" l="l"/>
            <a:pathLst>
              <a:path h="1358396" w="1765288">
                <a:moveTo>
                  <a:pt x="0" y="0"/>
                </a:moveTo>
                <a:lnTo>
                  <a:pt x="1765288" y="0"/>
                </a:lnTo>
                <a:lnTo>
                  <a:pt x="1765288" y="1358395"/>
                </a:lnTo>
                <a:lnTo>
                  <a:pt x="0" y="135839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5953661" y="5477786"/>
            <a:ext cx="813785" cy="795006"/>
          </a:xfrm>
          <a:custGeom>
            <a:avLst/>
            <a:gdLst/>
            <a:ahLst/>
            <a:cxnLst/>
            <a:rect r="r" b="b" t="t" l="l"/>
            <a:pathLst>
              <a:path h="795006" w="813785">
                <a:moveTo>
                  <a:pt x="0" y="0"/>
                </a:moveTo>
                <a:lnTo>
                  <a:pt x="813786" y="0"/>
                </a:lnTo>
                <a:lnTo>
                  <a:pt x="813786" y="795005"/>
                </a:lnTo>
                <a:lnTo>
                  <a:pt x="0" y="7950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6222836" y="5139752"/>
            <a:ext cx="275435" cy="456972"/>
          </a:xfrm>
          <a:custGeom>
            <a:avLst/>
            <a:gdLst/>
            <a:ahLst/>
            <a:cxnLst/>
            <a:rect r="r" b="b" t="t" l="l"/>
            <a:pathLst>
              <a:path h="456972" w="275435">
                <a:moveTo>
                  <a:pt x="0" y="0"/>
                </a:moveTo>
                <a:lnTo>
                  <a:pt x="275435" y="0"/>
                </a:lnTo>
                <a:lnTo>
                  <a:pt x="275435" y="456972"/>
                </a:lnTo>
                <a:lnTo>
                  <a:pt x="0" y="456972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1211967" y="5027074"/>
            <a:ext cx="1759028" cy="456972"/>
          </a:xfrm>
          <a:custGeom>
            <a:avLst/>
            <a:gdLst/>
            <a:ahLst/>
            <a:cxnLst/>
            <a:rect r="r" b="b" t="t" l="l"/>
            <a:pathLst>
              <a:path h="456972" w="1759028">
                <a:moveTo>
                  <a:pt x="0" y="0"/>
                </a:moveTo>
                <a:lnTo>
                  <a:pt x="1759028" y="0"/>
                </a:lnTo>
                <a:lnTo>
                  <a:pt x="1759028" y="456972"/>
                </a:lnTo>
                <a:lnTo>
                  <a:pt x="0" y="456972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907893" y="7866260"/>
            <a:ext cx="1677588" cy="1996191"/>
          </a:xfrm>
          <a:custGeom>
            <a:avLst/>
            <a:gdLst/>
            <a:ahLst/>
            <a:cxnLst/>
            <a:rect r="r" b="b" t="t" l="l"/>
            <a:pathLst>
              <a:path h="1996191" w="1677588">
                <a:moveTo>
                  <a:pt x="0" y="0"/>
                </a:moveTo>
                <a:lnTo>
                  <a:pt x="1677588" y="0"/>
                </a:lnTo>
                <a:lnTo>
                  <a:pt x="1677588" y="1996191"/>
                </a:lnTo>
                <a:lnTo>
                  <a:pt x="0" y="199619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-2352" r="0" b="-2352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101404" y="8344786"/>
            <a:ext cx="451658" cy="431363"/>
          </a:xfrm>
          <a:custGeom>
            <a:avLst/>
            <a:gdLst/>
            <a:ahLst/>
            <a:cxnLst/>
            <a:rect r="r" b="b" t="t" l="l"/>
            <a:pathLst>
              <a:path h="431363" w="451658">
                <a:moveTo>
                  <a:pt x="0" y="0"/>
                </a:moveTo>
                <a:lnTo>
                  <a:pt x="451658" y="0"/>
                </a:lnTo>
                <a:lnTo>
                  <a:pt x="451658" y="431363"/>
                </a:lnTo>
                <a:lnTo>
                  <a:pt x="0" y="43136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-2352" r="0" b="-2352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2756222" y="7892070"/>
            <a:ext cx="1637412" cy="1996191"/>
          </a:xfrm>
          <a:custGeom>
            <a:avLst/>
            <a:gdLst/>
            <a:ahLst/>
            <a:cxnLst/>
            <a:rect r="r" b="b" t="t" l="l"/>
            <a:pathLst>
              <a:path h="1996191" w="1637412">
                <a:moveTo>
                  <a:pt x="0" y="0"/>
                </a:moveTo>
                <a:lnTo>
                  <a:pt x="1637412" y="0"/>
                </a:lnTo>
                <a:lnTo>
                  <a:pt x="1637412" y="1996191"/>
                </a:lnTo>
                <a:lnTo>
                  <a:pt x="0" y="1996191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-1266" r="0" b="-1266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2974346" y="8368122"/>
            <a:ext cx="441989" cy="431067"/>
          </a:xfrm>
          <a:custGeom>
            <a:avLst/>
            <a:gdLst/>
            <a:ahLst/>
            <a:cxnLst/>
            <a:rect r="r" b="b" t="t" l="l"/>
            <a:pathLst>
              <a:path h="431067" w="441989">
                <a:moveTo>
                  <a:pt x="0" y="0"/>
                </a:moveTo>
                <a:lnTo>
                  <a:pt x="441989" y="0"/>
                </a:lnTo>
                <a:lnTo>
                  <a:pt x="441989" y="431067"/>
                </a:lnTo>
                <a:lnTo>
                  <a:pt x="0" y="43106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-1266" r="0" b="-1266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40127" y="8761745"/>
            <a:ext cx="1677588" cy="638641"/>
          </a:xfrm>
          <a:custGeom>
            <a:avLst/>
            <a:gdLst/>
            <a:ahLst/>
            <a:cxnLst/>
            <a:rect r="r" b="b" t="t" l="l"/>
            <a:pathLst>
              <a:path h="638641" w="1677588">
                <a:moveTo>
                  <a:pt x="0" y="0"/>
                </a:moveTo>
                <a:lnTo>
                  <a:pt x="1677588" y="0"/>
                </a:lnTo>
                <a:lnTo>
                  <a:pt x="1677588" y="638641"/>
                </a:lnTo>
                <a:lnTo>
                  <a:pt x="0" y="63864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-2352" r="0" b="-2352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40127" y="9269827"/>
            <a:ext cx="1677588" cy="644244"/>
          </a:xfrm>
          <a:custGeom>
            <a:avLst/>
            <a:gdLst/>
            <a:ahLst/>
            <a:cxnLst/>
            <a:rect r="r" b="b" t="t" l="l"/>
            <a:pathLst>
              <a:path h="644244" w="1677588">
                <a:moveTo>
                  <a:pt x="0" y="0"/>
                </a:moveTo>
                <a:lnTo>
                  <a:pt x="1677588" y="0"/>
                </a:lnTo>
                <a:lnTo>
                  <a:pt x="1677588" y="644244"/>
                </a:lnTo>
                <a:lnTo>
                  <a:pt x="0" y="64424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-2352" r="0" b="-2352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2974346" y="8899958"/>
            <a:ext cx="441989" cy="425469"/>
          </a:xfrm>
          <a:custGeom>
            <a:avLst/>
            <a:gdLst/>
            <a:ahLst/>
            <a:cxnLst/>
            <a:rect r="r" b="b" t="t" l="l"/>
            <a:pathLst>
              <a:path h="425469" w="441989">
                <a:moveTo>
                  <a:pt x="0" y="0"/>
                </a:moveTo>
                <a:lnTo>
                  <a:pt x="441989" y="0"/>
                </a:lnTo>
                <a:lnTo>
                  <a:pt x="441989" y="425469"/>
                </a:lnTo>
                <a:lnTo>
                  <a:pt x="0" y="425469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-1266" r="0" b="-1266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2974346" y="9426196"/>
            <a:ext cx="441989" cy="431067"/>
          </a:xfrm>
          <a:custGeom>
            <a:avLst/>
            <a:gdLst/>
            <a:ahLst/>
            <a:cxnLst/>
            <a:rect r="r" b="b" t="t" l="l"/>
            <a:pathLst>
              <a:path h="431067" w="441989">
                <a:moveTo>
                  <a:pt x="0" y="0"/>
                </a:moveTo>
                <a:lnTo>
                  <a:pt x="441989" y="0"/>
                </a:lnTo>
                <a:lnTo>
                  <a:pt x="441989" y="431068"/>
                </a:lnTo>
                <a:lnTo>
                  <a:pt x="0" y="431068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-1266" r="0" b="-1266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4631759" y="7897610"/>
            <a:ext cx="1542705" cy="1985112"/>
          </a:xfrm>
          <a:custGeom>
            <a:avLst/>
            <a:gdLst/>
            <a:ahLst/>
            <a:cxnLst/>
            <a:rect r="r" b="b" t="t" l="l"/>
            <a:pathLst>
              <a:path h="1985112" w="1542705">
                <a:moveTo>
                  <a:pt x="0" y="0"/>
                </a:moveTo>
                <a:lnTo>
                  <a:pt x="1542705" y="0"/>
                </a:lnTo>
                <a:lnTo>
                  <a:pt x="1542705" y="1985112"/>
                </a:lnTo>
                <a:lnTo>
                  <a:pt x="0" y="1985112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-1628" r="0" b="-1628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4939221" y="8493143"/>
            <a:ext cx="825293" cy="794045"/>
          </a:xfrm>
          <a:custGeom>
            <a:avLst/>
            <a:gdLst/>
            <a:ahLst/>
            <a:cxnLst/>
            <a:rect r="r" b="b" t="t" l="l"/>
            <a:pathLst>
              <a:path h="794045" w="825293">
                <a:moveTo>
                  <a:pt x="0" y="0"/>
                </a:moveTo>
                <a:lnTo>
                  <a:pt x="825293" y="0"/>
                </a:lnTo>
                <a:lnTo>
                  <a:pt x="825293" y="794045"/>
                </a:lnTo>
                <a:lnTo>
                  <a:pt x="0" y="79404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-1628" r="0" b="-1628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6325092" y="7903689"/>
            <a:ext cx="1735467" cy="1992747"/>
          </a:xfrm>
          <a:custGeom>
            <a:avLst/>
            <a:gdLst/>
            <a:ahLst/>
            <a:cxnLst/>
            <a:rect r="r" b="b" t="t" l="l"/>
            <a:pathLst>
              <a:path h="1992747" w="1735467">
                <a:moveTo>
                  <a:pt x="0" y="0"/>
                </a:moveTo>
                <a:lnTo>
                  <a:pt x="1735467" y="0"/>
                </a:lnTo>
                <a:lnTo>
                  <a:pt x="1735467" y="1992747"/>
                </a:lnTo>
                <a:lnTo>
                  <a:pt x="0" y="1992747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-8059" r="0" b="-8059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6556488" y="8401876"/>
            <a:ext cx="468881" cy="403793"/>
          </a:xfrm>
          <a:custGeom>
            <a:avLst/>
            <a:gdLst/>
            <a:ahLst/>
            <a:cxnLst/>
            <a:rect r="r" b="b" t="t" l="l"/>
            <a:pathLst>
              <a:path h="403793" w="468881">
                <a:moveTo>
                  <a:pt x="0" y="0"/>
                </a:moveTo>
                <a:lnTo>
                  <a:pt x="468880" y="0"/>
                </a:lnTo>
                <a:lnTo>
                  <a:pt x="468880" y="403793"/>
                </a:lnTo>
                <a:lnTo>
                  <a:pt x="0" y="40379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-8059" r="0" b="-8059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6556488" y="8900062"/>
            <a:ext cx="468881" cy="398549"/>
          </a:xfrm>
          <a:custGeom>
            <a:avLst/>
            <a:gdLst/>
            <a:ahLst/>
            <a:cxnLst/>
            <a:rect r="r" b="b" t="t" l="l"/>
            <a:pathLst>
              <a:path h="398549" w="468881">
                <a:moveTo>
                  <a:pt x="0" y="0"/>
                </a:moveTo>
                <a:lnTo>
                  <a:pt x="468880" y="0"/>
                </a:lnTo>
                <a:lnTo>
                  <a:pt x="468880" y="398550"/>
                </a:lnTo>
                <a:lnTo>
                  <a:pt x="0" y="398550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-8059" r="0" b="-8059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6556488" y="9393005"/>
            <a:ext cx="353183" cy="403793"/>
          </a:xfrm>
          <a:custGeom>
            <a:avLst/>
            <a:gdLst/>
            <a:ahLst/>
            <a:cxnLst/>
            <a:rect r="r" b="b" t="t" l="l"/>
            <a:pathLst>
              <a:path h="403793" w="353183">
                <a:moveTo>
                  <a:pt x="0" y="0"/>
                </a:moveTo>
                <a:lnTo>
                  <a:pt x="353182" y="0"/>
                </a:lnTo>
                <a:lnTo>
                  <a:pt x="353182" y="403793"/>
                </a:lnTo>
                <a:lnTo>
                  <a:pt x="0" y="403793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-8059" r="0" b="-8059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8441559" y="7970378"/>
            <a:ext cx="1694305" cy="1904023"/>
          </a:xfrm>
          <a:custGeom>
            <a:avLst/>
            <a:gdLst/>
            <a:ahLst/>
            <a:cxnLst/>
            <a:rect r="r" b="b" t="t" l="l"/>
            <a:pathLst>
              <a:path h="1904023" w="1694305">
                <a:moveTo>
                  <a:pt x="0" y="0"/>
                </a:moveTo>
                <a:lnTo>
                  <a:pt x="1694305" y="0"/>
                </a:lnTo>
                <a:lnTo>
                  <a:pt x="1694305" y="1904023"/>
                </a:lnTo>
                <a:lnTo>
                  <a:pt x="0" y="1904023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-5433" r="0" b="-5433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8547106" y="8446384"/>
            <a:ext cx="427743" cy="385815"/>
          </a:xfrm>
          <a:custGeom>
            <a:avLst/>
            <a:gdLst/>
            <a:ahLst/>
            <a:cxnLst/>
            <a:rect r="r" b="b" t="t" l="l"/>
            <a:pathLst>
              <a:path h="385815" w="427743">
                <a:moveTo>
                  <a:pt x="0" y="0"/>
                </a:moveTo>
                <a:lnTo>
                  <a:pt x="427743" y="0"/>
                </a:lnTo>
                <a:lnTo>
                  <a:pt x="427743" y="385815"/>
                </a:lnTo>
                <a:lnTo>
                  <a:pt x="0" y="38581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-5433" r="0" b="-5433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8547106" y="8922389"/>
            <a:ext cx="427743" cy="380805"/>
          </a:xfrm>
          <a:custGeom>
            <a:avLst/>
            <a:gdLst/>
            <a:ahLst/>
            <a:cxnLst/>
            <a:rect r="r" b="b" t="t" l="l"/>
            <a:pathLst>
              <a:path h="380805" w="427743">
                <a:moveTo>
                  <a:pt x="0" y="0"/>
                </a:moveTo>
                <a:lnTo>
                  <a:pt x="427743" y="0"/>
                </a:lnTo>
                <a:lnTo>
                  <a:pt x="427743" y="380805"/>
                </a:lnTo>
                <a:lnTo>
                  <a:pt x="0" y="38080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-5433" r="0" b="-5433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8547106" y="9393385"/>
            <a:ext cx="533290" cy="385815"/>
          </a:xfrm>
          <a:custGeom>
            <a:avLst/>
            <a:gdLst/>
            <a:ahLst/>
            <a:cxnLst/>
            <a:rect r="r" b="b" t="t" l="l"/>
            <a:pathLst>
              <a:path h="385815" w="533290">
                <a:moveTo>
                  <a:pt x="0" y="0"/>
                </a:moveTo>
                <a:lnTo>
                  <a:pt x="533289" y="0"/>
                </a:lnTo>
                <a:lnTo>
                  <a:pt x="533289" y="385815"/>
                </a:lnTo>
                <a:lnTo>
                  <a:pt x="0" y="385815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-5433" r="0" b="-5433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0444792" y="7924038"/>
            <a:ext cx="1601799" cy="1972398"/>
          </a:xfrm>
          <a:custGeom>
            <a:avLst/>
            <a:gdLst/>
            <a:ahLst/>
            <a:cxnLst/>
            <a:rect r="r" b="b" t="t" l="l"/>
            <a:pathLst>
              <a:path h="1972398" w="1601799">
                <a:moveTo>
                  <a:pt x="0" y="0"/>
                </a:moveTo>
                <a:lnTo>
                  <a:pt x="1601798" y="0"/>
                </a:lnTo>
                <a:lnTo>
                  <a:pt x="1601798" y="1972398"/>
                </a:lnTo>
                <a:lnTo>
                  <a:pt x="0" y="1972398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-4140" r="0" b="-414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0658365" y="8417137"/>
            <a:ext cx="427146" cy="399670"/>
          </a:xfrm>
          <a:custGeom>
            <a:avLst/>
            <a:gdLst/>
            <a:ahLst/>
            <a:cxnLst/>
            <a:rect r="r" b="b" t="t" l="l"/>
            <a:pathLst>
              <a:path h="399670" w="427146">
                <a:moveTo>
                  <a:pt x="0" y="0"/>
                </a:moveTo>
                <a:lnTo>
                  <a:pt x="427146" y="0"/>
                </a:lnTo>
                <a:lnTo>
                  <a:pt x="427146" y="399670"/>
                </a:lnTo>
                <a:lnTo>
                  <a:pt x="0" y="399670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-4140" r="0" b="-414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0658365" y="8910237"/>
            <a:ext cx="427146" cy="394480"/>
          </a:xfrm>
          <a:custGeom>
            <a:avLst/>
            <a:gdLst/>
            <a:ahLst/>
            <a:cxnLst/>
            <a:rect r="r" b="b" t="t" l="l"/>
            <a:pathLst>
              <a:path h="394480" w="427146">
                <a:moveTo>
                  <a:pt x="0" y="0"/>
                </a:moveTo>
                <a:lnTo>
                  <a:pt x="427146" y="0"/>
                </a:lnTo>
                <a:lnTo>
                  <a:pt x="427146" y="394479"/>
                </a:lnTo>
                <a:lnTo>
                  <a:pt x="0" y="394479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0" t="-4140" r="0" b="-414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0551578" y="9398146"/>
            <a:ext cx="533933" cy="399670"/>
          </a:xfrm>
          <a:custGeom>
            <a:avLst/>
            <a:gdLst/>
            <a:ahLst/>
            <a:cxnLst/>
            <a:rect r="r" b="b" t="t" l="l"/>
            <a:pathLst>
              <a:path h="399670" w="533933">
                <a:moveTo>
                  <a:pt x="0" y="0"/>
                </a:moveTo>
                <a:lnTo>
                  <a:pt x="533933" y="0"/>
                </a:lnTo>
                <a:lnTo>
                  <a:pt x="533933" y="399670"/>
                </a:lnTo>
                <a:lnTo>
                  <a:pt x="0" y="399670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0" t="-4140" r="0" b="-414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2289008" y="7853945"/>
            <a:ext cx="1834011" cy="2042491"/>
          </a:xfrm>
          <a:custGeom>
            <a:avLst/>
            <a:gdLst/>
            <a:ahLst/>
            <a:cxnLst/>
            <a:rect r="r" b="b" t="t" l="l"/>
            <a:pathLst>
              <a:path h="2042491" w="1834011">
                <a:moveTo>
                  <a:pt x="0" y="0"/>
                </a:moveTo>
                <a:lnTo>
                  <a:pt x="1834011" y="0"/>
                </a:lnTo>
                <a:lnTo>
                  <a:pt x="1834011" y="2042491"/>
                </a:lnTo>
                <a:lnTo>
                  <a:pt x="0" y="2042491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0" t="-5936" r="0" b="-5936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2631757" y="8319506"/>
            <a:ext cx="348763" cy="413873"/>
          </a:xfrm>
          <a:custGeom>
            <a:avLst/>
            <a:gdLst/>
            <a:ahLst/>
            <a:cxnLst/>
            <a:rect r="r" b="b" t="t" l="l"/>
            <a:pathLst>
              <a:path h="413873" w="348763">
                <a:moveTo>
                  <a:pt x="0" y="0"/>
                </a:moveTo>
                <a:lnTo>
                  <a:pt x="348763" y="0"/>
                </a:lnTo>
                <a:lnTo>
                  <a:pt x="348763" y="413873"/>
                </a:lnTo>
                <a:lnTo>
                  <a:pt x="0" y="413873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0" t="-5936" r="0" b="-5936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12659581" y="9516149"/>
            <a:ext cx="293116" cy="292820"/>
          </a:xfrm>
          <a:custGeom>
            <a:avLst/>
            <a:gdLst/>
            <a:ahLst/>
            <a:cxnLst/>
            <a:rect r="r" b="b" t="t" l="l"/>
            <a:pathLst>
              <a:path h="292820" w="293116">
                <a:moveTo>
                  <a:pt x="0" y="0"/>
                </a:moveTo>
                <a:lnTo>
                  <a:pt x="293116" y="0"/>
                </a:lnTo>
                <a:lnTo>
                  <a:pt x="293116" y="292821"/>
                </a:lnTo>
                <a:lnTo>
                  <a:pt x="0" y="292821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2756222" y="42404"/>
            <a:ext cx="11859114" cy="1264866"/>
            <a:chOff x="0" y="0"/>
            <a:chExt cx="15812152" cy="168648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5812153" cy="1686489"/>
            </a:xfrm>
            <a:custGeom>
              <a:avLst/>
              <a:gdLst/>
              <a:ahLst/>
              <a:cxnLst/>
              <a:rect r="r" b="b" t="t" l="l"/>
              <a:pathLst>
                <a:path h="1686489" w="15812153">
                  <a:moveTo>
                    <a:pt x="0" y="0"/>
                  </a:moveTo>
                  <a:lnTo>
                    <a:pt x="15812153" y="0"/>
                  </a:lnTo>
                  <a:lnTo>
                    <a:pt x="15812153" y="1686489"/>
                  </a:lnTo>
                  <a:lnTo>
                    <a:pt x="0" y="1686489"/>
                  </a:lnTo>
                  <a:close/>
                </a:path>
              </a:pathLst>
            </a:custGeom>
            <a:blipFill>
              <a:blip r:embed="rId59">
                <a:alphaModFix amt="0"/>
              </a:blip>
              <a:stretch>
                <a:fillRect l="0" t="-128688" r="2847" b="-12628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15812152" cy="1715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 &amp; SYSTEM ARCHITECTURE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70933" y="85649"/>
            <a:ext cx="1910752" cy="1245753"/>
            <a:chOff x="0" y="0"/>
            <a:chExt cx="2554516" cy="1665468"/>
          </a:xfrm>
        </p:grpSpPr>
        <p:sp>
          <p:nvSpPr>
            <p:cNvPr name="Freeform 102" id="102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LastCommit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14663699" y="3840662"/>
            <a:ext cx="1609915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Constant Checking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960990" y="2322969"/>
            <a:ext cx="1043692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User Input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4483895" y="2830614"/>
            <a:ext cx="1997882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Investigation(CAO/TMS) 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4824678" y="3352923"/>
            <a:ext cx="1316318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 APIs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4699221" y="4360887"/>
            <a:ext cx="1588573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Conflict Detection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4859901" y="4842344"/>
            <a:ext cx="1267214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Optimiser 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4824678" y="5330391"/>
            <a:ext cx="1389346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Optimized Plan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4971661" y="5870023"/>
            <a:ext cx="1043692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4359616" y="6877593"/>
            <a:ext cx="2218079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Final Verdict Report (PDF)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3725237" y="6350833"/>
            <a:ext cx="3486837" cy="2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3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Offline Verification &amp; Signature Workflow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4313310" y="1594658"/>
            <a:ext cx="2360395" cy="44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b="true" sz="281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FLOW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453751" y="1967893"/>
            <a:ext cx="4940692" cy="47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b="true" sz="3413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724494" y="3164353"/>
            <a:ext cx="1266162" cy="18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b="true" sz="1364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Web Application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674840" y="3383738"/>
            <a:ext cx="1365469" cy="16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"/>
              </a:lnSpc>
            </a:pPr>
            <a:r>
              <a:rPr lang="en-US" sz="1133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(React 18 + Vite SPA)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93986" y="4463346"/>
            <a:ext cx="872948" cy="14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4"/>
              </a:lnSpc>
            </a:pPr>
            <a:r>
              <a:rPr lang="en-US" sz="1013" b="true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User/Operator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3536844" y="3102804"/>
            <a:ext cx="1564083" cy="39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</a:pPr>
            <a:r>
              <a:rPr lang="en-US" b="true" sz="1364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Dispatcher cockpit Dashboard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882968" y="3102804"/>
            <a:ext cx="968242" cy="39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</a:pPr>
            <a:r>
              <a:rPr lang="en-US" b="true" sz="1364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Spring Boot Backend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5882968" y="3507527"/>
            <a:ext cx="968242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"/>
              </a:lnSpc>
            </a:pPr>
            <a:r>
              <a:rPr lang="en-US" sz="1158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(Java 21 LTS)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5870555" y="3869906"/>
            <a:ext cx="968242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"/>
              </a:lnSpc>
            </a:pPr>
            <a:r>
              <a:rPr lang="en-US" b="true" sz="1158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Core Modules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5920208" y="4321638"/>
            <a:ext cx="893762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"/>
              </a:lnSpc>
            </a:pPr>
            <a:r>
              <a:rPr lang="en-US" b="true" sz="1158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Core Module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5945035" y="4758478"/>
            <a:ext cx="868935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"/>
              </a:lnSpc>
            </a:pPr>
            <a:r>
              <a:rPr lang="en-US" b="true" sz="1158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CPU Module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7757385" y="3127624"/>
            <a:ext cx="1365469" cy="39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"/>
              </a:lnSpc>
            </a:pPr>
            <a:r>
              <a:rPr lang="en-US" b="true" sz="1364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AI / Optimization Engine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7744972" y="3758610"/>
            <a:ext cx="1340643" cy="34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0"/>
              </a:lnSpc>
            </a:pPr>
            <a:r>
              <a:rPr lang="en-US" sz="1133" b="true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2D conflict engine 15m headway buffer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682905" y="4386171"/>
            <a:ext cx="1539256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8"/>
              </a:lnSpc>
            </a:pPr>
            <a:r>
              <a:rPr lang="en-US" sz="1158" b="true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Sliding-window search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7682905" y="4818047"/>
            <a:ext cx="1464776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8"/>
              </a:lnSpc>
            </a:pPr>
            <a:r>
              <a:rPr lang="en-US" sz="1158" b="true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Shadow mega-blocks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768349" y="3148409"/>
            <a:ext cx="1564083" cy="17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3"/>
              </a:lnSpc>
            </a:pPr>
            <a:r>
              <a:rPr lang="en-US" b="true" sz="1303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Output &amp; Verification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9818002" y="3367325"/>
            <a:ext cx="1514430" cy="15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"/>
              </a:lnSpc>
            </a:pPr>
            <a:r>
              <a:rPr lang="en-US" b="true" sz="1109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(Controller 1-click lock)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5887526" y="6224937"/>
            <a:ext cx="944544" cy="37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4"/>
              </a:lnSpc>
            </a:pPr>
            <a:r>
              <a:rPr lang="en-US" b="true" sz="1331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PostgreSQL Database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1940686" y="4460633"/>
            <a:ext cx="595841" cy="16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"/>
              </a:lnSpc>
            </a:pPr>
            <a:r>
              <a:rPr lang="en-US" b="true" sz="11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REPORT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247816" y="8023958"/>
            <a:ext cx="1069151" cy="20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"/>
              </a:lnSpc>
            </a:pPr>
            <a:r>
              <a:rPr lang="en-US" b="true" sz="148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600687" y="8469939"/>
            <a:ext cx="588634" cy="15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6"/>
              </a:lnSpc>
            </a:pPr>
            <a:r>
              <a:rPr lang="en-US" b="true" sz="1186" spc="-3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React 18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3215293" y="8004057"/>
            <a:ext cx="881681" cy="20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7"/>
              </a:lnSpc>
            </a:pPr>
            <a:r>
              <a:rPr lang="en-US" b="true" sz="148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3462164" y="8510859"/>
            <a:ext cx="893437" cy="16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1155" spc="-3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Java 21 (LTS)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600687" y="9002271"/>
            <a:ext cx="588634" cy="17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8"/>
              </a:lnSpc>
            </a:pPr>
            <a:r>
              <a:rPr lang="en-US" b="true" sz="1308" spc="-3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Vite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531163" y="9492469"/>
            <a:ext cx="912983" cy="17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"/>
              </a:lnSpc>
            </a:pPr>
            <a:r>
              <a:rPr lang="en-US" b="true" sz="1217" spc="-3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Tailwind CSS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3462164" y="9046886"/>
            <a:ext cx="893437" cy="15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6"/>
              </a:lnSpc>
            </a:pPr>
            <a:r>
              <a:rPr lang="en-US" b="true" sz="1186" spc="-35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Spring Boot 3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3462164" y="9475026"/>
            <a:ext cx="893437" cy="33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"/>
              </a:lnSpc>
            </a:pPr>
            <a:r>
              <a:rPr lang="en-US" b="true" sz="1307" spc="-3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Spring Data JPA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4953246" y="8058490"/>
            <a:ext cx="905859" cy="1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2"/>
              </a:lnSpc>
            </a:pPr>
            <a:r>
              <a:rPr lang="en-US" b="true" sz="135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DATABASE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4942199" y="9330393"/>
            <a:ext cx="905859" cy="1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2"/>
              </a:lnSpc>
            </a:pPr>
            <a:r>
              <a:rPr lang="en-US" b="true" sz="1352" spc="-4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PostgreSQL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6652066" y="8033874"/>
            <a:ext cx="1184745" cy="17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3"/>
              </a:lnSpc>
            </a:pPr>
            <a:r>
              <a:rPr lang="en-US" b="true" sz="12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ALGORITHMS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7076080" y="8432793"/>
            <a:ext cx="748260" cy="32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spc="-31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2DCollision Detection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7076080" y="9030874"/>
            <a:ext cx="723318" cy="16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"/>
              </a:lnSpc>
            </a:pPr>
            <a:r>
              <a:rPr lang="en-US" sz="1025" spc="-3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15m Buffer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7001254" y="9443484"/>
            <a:ext cx="947796" cy="29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980" spc="-2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Sliding Window Search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8760977" y="8034186"/>
            <a:ext cx="1114931" cy="31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b="true" sz="11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/ DECISION ENGINE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9050753" y="8475500"/>
            <a:ext cx="864640" cy="31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"/>
              </a:lnSpc>
            </a:pPr>
            <a:r>
              <a:rPr lang="en-US" sz="1014" spc="-3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Disruption Cost Model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9073507" y="9042624"/>
            <a:ext cx="864640" cy="14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"/>
              </a:lnSpc>
            </a:pPr>
            <a:r>
              <a:rPr lang="en-US" sz="948" spc="-28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Shadow Blocks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9073507" y="9479813"/>
            <a:ext cx="864640" cy="24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"/>
              </a:lnSpc>
            </a:pPr>
            <a:r>
              <a:rPr lang="en-US" sz="925" spc="-2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XAI (Explainable AI)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0641729" y="8087262"/>
            <a:ext cx="1151047" cy="17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2"/>
              </a:lnSpc>
            </a:pPr>
            <a:r>
              <a:rPr lang="en-US" b="true" sz="129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DEPLOYMENT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1171210" y="8554761"/>
            <a:ext cx="564013" cy="17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"/>
              </a:lnSpc>
            </a:pPr>
            <a:r>
              <a:rPr lang="en-US" b="true" sz="1212" spc="-3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docker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1171210" y="9043272"/>
            <a:ext cx="564013" cy="17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"/>
              </a:lnSpc>
            </a:pPr>
            <a:r>
              <a:rPr lang="en-US" b="true" sz="1212" spc="-3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Vercel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1171210" y="9531783"/>
            <a:ext cx="690628" cy="17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"/>
              </a:lnSpc>
            </a:pPr>
            <a:r>
              <a:rPr lang="en-US" b="true" sz="1212" spc="-36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Cloud DB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2654944" y="8019152"/>
            <a:ext cx="1206863" cy="18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"/>
              </a:lnSpc>
            </a:pPr>
            <a:r>
              <a:rPr lang="en-US" b="true" sz="137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TOOLS &amp; PDF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3028145" y="8451627"/>
            <a:ext cx="935935" cy="16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b="true" sz="1255" spc="-3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PDF Export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2659581" y="9016566"/>
            <a:ext cx="1331846" cy="1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b="true" sz="1255" spc="-3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Offline Signature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3068144" y="9598081"/>
            <a:ext cx="738896" cy="16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"/>
              </a:lnSpc>
            </a:pPr>
            <a:r>
              <a:rPr lang="en-US" b="true" sz="1255" spc="-3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Swagger</a:t>
            </a:r>
          </a:p>
        </p:txBody>
      </p:sp>
      <p:sp>
        <p:nvSpPr>
          <p:cNvPr name="Freeform 159" id="159"/>
          <p:cNvSpPr/>
          <p:nvPr/>
        </p:nvSpPr>
        <p:spPr>
          <a:xfrm flipH="false" flipV="false" rot="0">
            <a:off x="14618319" y="7781217"/>
            <a:ext cx="2453221" cy="2217898"/>
          </a:xfrm>
          <a:custGeom>
            <a:avLst/>
            <a:gdLst/>
            <a:ahLst/>
            <a:cxnLst/>
            <a:rect r="r" b="b" t="t" l="l"/>
            <a:pathLst>
              <a:path h="2217898" w="2453221">
                <a:moveTo>
                  <a:pt x="0" y="0"/>
                </a:moveTo>
                <a:lnTo>
                  <a:pt x="2453221" y="0"/>
                </a:lnTo>
                <a:lnTo>
                  <a:pt x="2453221" y="2217897"/>
                </a:lnTo>
                <a:lnTo>
                  <a:pt x="0" y="2217897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 l="-679" t="-885" r="0" b="-885"/>
            </a:stretch>
          </a:blipFill>
        </p:spPr>
      </p:sp>
      <p:grpSp>
        <p:nvGrpSpPr>
          <p:cNvPr name="Group 160" id="160"/>
          <p:cNvGrpSpPr/>
          <p:nvPr/>
        </p:nvGrpSpPr>
        <p:grpSpPr>
          <a:xfrm rot="0">
            <a:off x="0" y="9961696"/>
            <a:ext cx="18288000" cy="325304"/>
            <a:chOff x="0" y="0"/>
            <a:chExt cx="24384000" cy="433739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4384000" cy="433739"/>
            </a:xfrm>
            <a:custGeom>
              <a:avLst/>
              <a:gdLst/>
              <a:ahLst/>
              <a:cxnLst/>
              <a:rect r="r" b="b" t="t" l="l"/>
              <a:pathLst>
                <a:path h="43373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3739"/>
                  </a:lnTo>
                  <a:lnTo>
                    <a:pt x="0" y="43373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505465" y="9880382"/>
            <a:ext cx="4267200" cy="547688"/>
            <a:chOff x="0" y="0"/>
            <a:chExt cx="5689600" cy="73025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9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6910223" y="9850504"/>
            <a:ext cx="4806001" cy="547688"/>
            <a:chOff x="0" y="0"/>
            <a:chExt cx="6408001" cy="73025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9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18482"/>
            <a:ext cx="18288000" cy="368518"/>
            <a:chOff x="0" y="0"/>
            <a:chExt cx="24384000" cy="491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1358"/>
            </a:xfrm>
            <a:custGeom>
              <a:avLst/>
              <a:gdLst/>
              <a:ahLst/>
              <a:cxnLst/>
              <a:rect r="r" b="b" t="t" l="l"/>
              <a:pathLst>
                <a:path h="49135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1358"/>
                  </a:lnTo>
                  <a:lnTo>
                    <a:pt x="0" y="49135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05465" y="9880382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10223" y="9836944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811988" y="2248"/>
            <a:ext cx="2232915" cy="1054340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52504" y="49599"/>
            <a:ext cx="11521440" cy="1234440"/>
            <a:chOff x="0" y="0"/>
            <a:chExt cx="1536192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61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536192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FEASIBILITY, VIABILITY &amp; RISK MITIGATION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624" y="1152380"/>
            <a:ext cx="5902039" cy="4078724"/>
            <a:chOff x="0" y="0"/>
            <a:chExt cx="7067423" cy="48840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7423" cy="4884087"/>
            </a:xfrm>
            <a:custGeom>
              <a:avLst/>
              <a:gdLst/>
              <a:ahLst/>
              <a:cxnLst/>
              <a:rect r="r" b="b" t="t" l="l"/>
              <a:pathLst>
                <a:path h="4884087" w="7067423">
                  <a:moveTo>
                    <a:pt x="0" y="813967"/>
                  </a:moveTo>
                  <a:cubicBezTo>
                    <a:pt x="0" y="364441"/>
                    <a:pt x="312131" y="0"/>
                    <a:pt x="697133" y="0"/>
                  </a:cubicBezTo>
                  <a:lnTo>
                    <a:pt x="6370290" y="0"/>
                  </a:lnTo>
                  <a:cubicBezTo>
                    <a:pt x="6755292" y="0"/>
                    <a:pt x="7067423" y="364441"/>
                    <a:pt x="7067423" y="813967"/>
                  </a:cubicBezTo>
                  <a:lnTo>
                    <a:pt x="7067423" y="4070120"/>
                  </a:lnTo>
                  <a:cubicBezTo>
                    <a:pt x="7067423" y="4519645"/>
                    <a:pt x="6755292" y="4884087"/>
                    <a:pt x="6370290" y="4884087"/>
                  </a:cubicBezTo>
                  <a:lnTo>
                    <a:pt x="697133" y="4884087"/>
                  </a:lnTo>
                  <a:cubicBezTo>
                    <a:pt x="312131" y="4884086"/>
                    <a:pt x="0" y="4519645"/>
                    <a:pt x="0" y="4070120"/>
                  </a:cubicBezTo>
                  <a:close/>
                </a:path>
              </a:pathLst>
            </a:custGeom>
            <a:solidFill>
              <a:srgbClr val="DDE6FF"/>
            </a:solidFill>
            <a:ln w="47625" cap="sq">
              <a:solidFill>
                <a:srgbClr val="94AEF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7067423" cy="4960287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2982"/>
                </a:lnSpc>
              </a:pPr>
              <a:r>
                <a:rPr lang="en-US" sz="1899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💻 </a:t>
              </a:r>
              <a:r>
                <a:rPr lang="en-US" sz="1899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Feasibility (100% Proven)</a:t>
              </a:r>
            </a:p>
            <a:p>
              <a:pPr algn="ctr">
                <a:lnSpc>
                  <a:spcPts val="2826"/>
                </a:lnSpc>
              </a:pPr>
              <a:r>
                <a:rPr lang="en-US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Validated working full-stack prototype</a:t>
              </a:r>
            </a:p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800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Enterprise Architecture: </a:t>
              </a:r>
              <a:r>
                <a:rPr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Built on enterprise Java 21, Spring Boot, and PostgreSQL; highly modular, resilient, and horizontally scalable.</a:t>
              </a:r>
            </a:p>
            <a:p>
              <a:pPr algn="just">
                <a:lnSpc>
                  <a:spcPts val="1800"/>
                </a:lnSpc>
              </a:pPr>
            </a:p>
            <a:p>
              <a:pPr algn="l">
                <a:lnSpc>
                  <a:spcPts val="2268"/>
                </a:lnSpc>
              </a:pPr>
              <a:r>
                <a:rPr lang="en-US" sz="18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800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Sub-Second Latency: </a:t>
              </a:r>
              <a:r>
                <a:rPr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Conflict check takes &lt;50ms; 24-hr schedule optimization finishes in &lt;200ms, ensuring instantaneous UI feedback.</a:t>
              </a:r>
            </a:p>
            <a:p>
              <a:pPr algn="l">
                <a:lnSpc>
                  <a:spcPts val="2268"/>
                </a:lnSpc>
              </a:pPr>
            </a:p>
            <a:p>
              <a:pPr algn="l">
                <a:lnSpc>
                  <a:spcPts val="2124"/>
                </a:lnSpc>
              </a:pPr>
              <a:r>
                <a:rPr lang="en-US" sz="18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800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Authentic Dataset Proof: </a:t>
              </a:r>
              <a:r>
                <a:rPr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Pre-seeded and verified on Northern Railway NDLS–GZB quadrupled trunk dataset (16 tracks, 16 assets, 12 trains).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74503" y="1152380"/>
            <a:ext cx="5738995" cy="4057732"/>
            <a:chOff x="0" y="0"/>
            <a:chExt cx="7407950" cy="5237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07950" cy="5237760"/>
            </a:xfrm>
            <a:custGeom>
              <a:avLst/>
              <a:gdLst/>
              <a:ahLst/>
              <a:cxnLst/>
              <a:rect r="r" b="b" t="t" l="l"/>
              <a:pathLst>
                <a:path h="5237760" w="7407950">
                  <a:moveTo>
                    <a:pt x="0" y="872909"/>
                  </a:moveTo>
                  <a:cubicBezTo>
                    <a:pt x="0" y="390832"/>
                    <a:pt x="327170" y="0"/>
                    <a:pt x="730722" y="0"/>
                  </a:cubicBezTo>
                  <a:lnTo>
                    <a:pt x="6677228" y="0"/>
                  </a:lnTo>
                  <a:cubicBezTo>
                    <a:pt x="7080781" y="0"/>
                    <a:pt x="7407950" y="390832"/>
                    <a:pt x="7407950" y="872909"/>
                  </a:cubicBezTo>
                  <a:lnTo>
                    <a:pt x="7407950" y="4364851"/>
                  </a:lnTo>
                  <a:cubicBezTo>
                    <a:pt x="7407950" y="4846928"/>
                    <a:pt x="7080781" y="5237760"/>
                    <a:pt x="6677228" y="5237760"/>
                  </a:cubicBezTo>
                  <a:lnTo>
                    <a:pt x="730722" y="5237760"/>
                  </a:lnTo>
                  <a:cubicBezTo>
                    <a:pt x="327170" y="5237760"/>
                    <a:pt x="0" y="4846928"/>
                    <a:pt x="0" y="4364851"/>
                  </a:cubicBezTo>
                  <a:close/>
                </a:path>
              </a:pathLst>
            </a:custGeom>
            <a:solidFill>
              <a:srgbClr val="DDE6FF"/>
            </a:solidFill>
            <a:ln w="47625" cap="sq">
              <a:solidFill>
                <a:srgbClr val="94AEF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407950" cy="5247285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🚉 </a:t>
              </a:r>
              <a:r>
                <a:rPr lang="en-US" sz="1899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Operational Feasibility (Zero Friction)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Seamless integration into IR workflows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800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Preserves Hierarchy: </a:t>
              </a:r>
              <a:r>
                <a:rPr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Seamlessly overlays on existing BDMS and COA procedures without altering command structures or retraining staff.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800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Human-in-the-Loop: </a:t>
              </a:r>
              <a:r>
                <a:rPr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Controllers retain full final override authority; AI serves as an intelligent advisory copilot, not a black-box replacement.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800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Intuitive Cockpit: </a:t>
              </a:r>
              <a:r>
                <a:rPr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Replaces dense paper registers with a modern visual Gantt timeline showing real-time track occupation.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5232" y="1028700"/>
            <a:ext cx="5844852" cy="4292528"/>
            <a:chOff x="0" y="0"/>
            <a:chExt cx="7711110" cy="56631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11109" cy="5663130"/>
            </a:xfrm>
            <a:custGeom>
              <a:avLst/>
              <a:gdLst/>
              <a:ahLst/>
              <a:cxnLst/>
              <a:rect r="r" b="b" t="t" l="l"/>
              <a:pathLst>
                <a:path h="5663130" w="7711109">
                  <a:moveTo>
                    <a:pt x="0" y="943799"/>
                  </a:moveTo>
                  <a:cubicBezTo>
                    <a:pt x="0" y="422572"/>
                    <a:pt x="340559" y="0"/>
                    <a:pt x="760626" y="0"/>
                  </a:cubicBezTo>
                  <a:lnTo>
                    <a:pt x="6950484" y="0"/>
                  </a:lnTo>
                  <a:cubicBezTo>
                    <a:pt x="7370551" y="0"/>
                    <a:pt x="7711109" y="422572"/>
                    <a:pt x="7711109" y="943799"/>
                  </a:cubicBezTo>
                  <a:lnTo>
                    <a:pt x="7711109" y="4719330"/>
                  </a:lnTo>
                  <a:cubicBezTo>
                    <a:pt x="7711109" y="5240557"/>
                    <a:pt x="7370551" y="5663130"/>
                    <a:pt x="6950484" y="5663130"/>
                  </a:cubicBezTo>
                  <a:lnTo>
                    <a:pt x="760626" y="5663130"/>
                  </a:lnTo>
                  <a:cubicBezTo>
                    <a:pt x="340559" y="5663129"/>
                    <a:pt x="0" y="5240557"/>
                    <a:pt x="0" y="4719330"/>
                  </a:cubicBezTo>
                  <a:close/>
                </a:path>
              </a:pathLst>
            </a:custGeom>
            <a:solidFill>
              <a:srgbClr val="DDE6FF"/>
            </a:solidFill>
            <a:ln w="47625" cap="sq">
              <a:solidFill>
                <a:srgbClr val="94AEF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711110" cy="5672654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💰 </a:t>
              </a:r>
              <a:r>
                <a:rPr lang="en-US" sz="1899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Financial &amp; Resource Viability</a:t>
              </a:r>
            </a:p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High ROI &amp; minimal infrastructure cost</a:t>
              </a:r>
            </a:p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799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Zero Hardware Mandate: </a:t>
              </a:r>
              <a:r>
                <a:rPr lang="en-US" sz="1799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Pure software intelligence; runs on commodity cloud (NIC/AWS) or IR data centers with zero bespoke line-side track sensors.</a:t>
              </a:r>
            </a:p>
            <a:p>
              <a:pPr algn="l">
                <a:lnSpc>
                  <a:spcPts val="2159"/>
                </a:lnSpc>
              </a:pPr>
            </a:p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799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Rapid Financial ROI: </a:t>
              </a:r>
              <a:r>
                <a:rPr lang="en-US" sz="1799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Slashes passenger delay penalties, eliminates diesel train idling wastage, and avoids catastrophic emergency track repairs.</a:t>
              </a:r>
            </a:p>
            <a:p>
              <a:pPr algn="l">
                <a:lnSpc>
                  <a:spcPts val="2159"/>
                </a:lnSpc>
              </a:pPr>
            </a:p>
            <a:p>
              <a:pPr algn="l">
                <a:lnSpc>
                  <a:spcPts val="2159"/>
                </a:lnSpc>
              </a:pPr>
              <a:r>
                <a:rPr lang="en-US" sz="1799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</a:t>
              </a:r>
              <a:r>
                <a:rPr lang="en-US" sz="1799" b="true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Asset Longevity: </a:t>
              </a:r>
              <a:r>
                <a:rPr lang="en-US" sz="1799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Predictive shadow-blocking prevents neglected point machines and OHE wires from  reaching catastrophic failure.</a:t>
              </a:r>
            </a:p>
          </p:txBody>
        </p:sp>
      </p:grp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169624" y="5351575"/>
          <a:ext cx="17880461" cy="4419600"/>
        </p:xfrm>
        <a:graphic>
          <a:graphicData uri="http://schemas.openxmlformats.org/drawingml/2006/table">
            <a:tbl>
              <a:tblPr/>
              <a:tblGrid>
                <a:gridCol w="3512155"/>
                <a:gridCol w="4682874"/>
                <a:gridCol w="6726455"/>
                <a:gridCol w="2958976"/>
              </a:tblGrid>
              <a:tr h="556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b="true" sz="1875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Operational Challenge / Risk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E2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b="true" sz="1875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Potential Impact on Operations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E2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b="true" sz="1875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Technical Mitigation Strategy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E2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b="true" sz="1875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Status &amp; Feasibility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E2C"/>
                    </a:solidFill>
                  </a:tcPr>
                </a:tc>
              </a:tr>
              <a:tr h="11025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Departmental Data Silos</a:t>
                      </a:r>
                      <a:endParaRPr lang="en-US" sz="1100"/>
                    </a:p>
                    <a:p>
                      <a:pPr algn="l">
                        <a:lnSpc>
                          <a:spcPts val="2176"/>
                        </a:lnSpc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(TMS, SMMS, TDMS in separate legacy systems)</a:t>
                      </a:r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Incompatible formats, delayed approvals, duplicate line possessions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Unified Ingestion Adapter Layer: Standardized REST/JSON schemas, data validation, and automated staging ETL pipelines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Prototype Built &amp; Verified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</a:tr>
              <a:tr h="13805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Dynamic Operational Disruptions</a:t>
                      </a:r>
                      <a:endParaRPr lang="en-US" sz="1100"/>
                    </a:p>
                    <a:p>
                      <a:pPr algn="l">
                        <a:lnSpc>
                          <a:spcPts val="2176"/>
                        </a:lnSpc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(Unscheduled freight, sudden delays, rail fractures)</a:t>
                      </a:r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Pre-planned maintenance block clashes with delayed passenger trains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Event-Driven Dynamic Re-Planning Engine: Automated rescheduling triggered by live COA delay feeds in &lt;200ms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Algorithm Verified in Code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</a:tr>
              <a:tr h="13805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Controller Adoption &amp; Skepticism</a:t>
                      </a:r>
                      <a:endParaRPr lang="en-US" sz="1100"/>
                    </a:p>
                    <a:p>
                      <a:pPr algn="l">
                        <a:lnSpc>
                          <a:spcPts val="2176"/>
                        </a:lnSpc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(Staff resistance to automated algorithms)</a:t>
                      </a:r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Controllers ignore recommendations and rely on manual phone calls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Explainable AI (XAI) Cockpit: Displays transparent operational rationale ('Zero conflicts, bundles 3 assets, saves 270 min')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76"/>
                        </a:lnSpc>
                        <a:defRPr/>
                      </a:pPr>
                      <a:r>
                        <a:rPr lang="en-US" sz="1814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Implemented &amp; Active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FA"/>
                    </a:solidFill>
                  </a:tcPr>
                </a:tc>
              </a:tr>
            </a:tbl>
          </a:graphicData>
        </a:graphic>
      </p:graphicFrame>
      <p:grpSp>
        <p:nvGrpSpPr>
          <p:cNvPr name="Group 25" id="25"/>
          <p:cNvGrpSpPr/>
          <p:nvPr/>
        </p:nvGrpSpPr>
        <p:grpSpPr>
          <a:xfrm rot="0">
            <a:off x="528821" y="236534"/>
            <a:ext cx="1319952" cy="860569"/>
            <a:chOff x="0" y="0"/>
            <a:chExt cx="2554516" cy="1665468"/>
          </a:xfrm>
        </p:grpSpPr>
        <p:sp>
          <p:nvSpPr>
            <p:cNvPr name="Freeform 26" id="2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LastCommit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462" y="293722"/>
            <a:ext cx="1909412" cy="1244879"/>
            <a:chOff x="0" y="0"/>
            <a:chExt cx="2554516" cy="1665468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astCommit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404926" y="207349"/>
            <a:ext cx="2639977" cy="1246547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017520" y="219456"/>
            <a:ext cx="11521440" cy="1234440"/>
            <a:chOff x="0" y="0"/>
            <a:chExt cx="1536192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61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36192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IMPACT, QUANTIFIED BENEFITS &amp; BENCHMARKS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-1352618" y="3421858"/>
            <a:ext cx="7596856" cy="4076028"/>
          </a:xfrm>
          <a:custGeom>
            <a:avLst/>
            <a:gdLst/>
            <a:ahLst/>
            <a:cxnLst/>
            <a:rect r="r" b="b" t="t" l="l"/>
            <a:pathLst>
              <a:path h="4076028" w="7596856">
                <a:moveTo>
                  <a:pt x="0" y="0"/>
                </a:moveTo>
                <a:lnTo>
                  <a:pt x="7596856" y="0"/>
                </a:lnTo>
                <a:lnTo>
                  <a:pt x="7596856" y="4076028"/>
                </a:lnTo>
                <a:lnTo>
                  <a:pt x="0" y="4076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40" t="-67929" r="-25075" b="-58588"/>
            </a:stretch>
          </a:blipFill>
          <a:ln w="57150" cap="rnd">
            <a:solidFill>
              <a:srgbClr val="B6F1C5"/>
            </a:solidFill>
            <a:prstDash val="solid"/>
            <a:round/>
          </a:ln>
        </p:spPr>
      </p:sp>
      <p:grpSp>
        <p:nvGrpSpPr>
          <p:cNvPr name="Group 11" id="11"/>
          <p:cNvGrpSpPr/>
          <p:nvPr/>
        </p:nvGrpSpPr>
        <p:grpSpPr>
          <a:xfrm rot="0">
            <a:off x="760252" y="1932908"/>
            <a:ext cx="3396590" cy="341610"/>
            <a:chOff x="0" y="0"/>
            <a:chExt cx="894575" cy="899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4575" cy="89971"/>
            </a:xfrm>
            <a:custGeom>
              <a:avLst/>
              <a:gdLst/>
              <a:ahLst/>
              <a:cxnLst/>
              <a:rect r="r" b="b" t="t" l="l"/>
              <a:pathLst>
                <a:path h="89971" w="894575">
                  <a:moveTo>
                    <a:pt x="29631" y="0"/>
                  </a:moveTo>
                  <a:lnTo>
                    <a:pt x="864944" y="0"/>
                  </a:lnTo>
                  <a:cubicBezTo>
                    <a:pt x="881309" y="0"/>
                    <a:pt x="894575" y="13266"/>
                    <a:pt x="894575" y="29631"/>
                  </a:cubicBezTo>
                  <a:lnTo>
                    <a:pt x="894575" y="60340"/>
                  </a:lnTo>
                  <a:cubicBezTo>
                    <a:pt x="894575" y="76705"/>
                    <a:pt x="881309" y="89971"/>
                    <a:pt x="864944" y="89971"/>
                  </a:cubicBezTo>
                  <a:lnTo>
                    <a:pt x="29631" y="89971"/>
                  </a:lnTo>
                  <a:cubicBezTo>
                    <a:pt x="13266" y="89971"/>
                    <a:pt x="0" y="76705"/>
                    <a:pt x="0" y="60340"/>
                  </a:cubicBezTo>
                  <a:lnTo>
                    <a:pt x="0" y="29631"/>
                  </a:lnTo>
                  <a:cubicBezTo>
                    <a:pt x="0" y="13266"/>
                    <a:pt x="13266" y="0"/>
                    <a:pt x="29631" y="0"/>
                  </a:cubicBezTo>
                  <a:close/>
                </a:path>
              </a:pathLst>
            </a:custGeom>
            <a:solidFill>
              <a:srgbClr val="B6F1C5">
                <a:alpha val="75686"/>
              </a:srgbClr>
            </a:solidFill>
            <a:ln w="19050" cap="sq">
              <a:solidFill>
                <a:srgbClr val="B6F1C5">
                  <a:alpha val="7568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94575" cy="128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1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3056786" y="3421858"/>
            <a:ext cx="7596856" cy="4076028"/>
          </a:xfrm>
          <a:custGeom>
            <a:avLst/>
            <a:gdLst/>
            <a:ahLst/>
            <a:cxnLst/>
            <a:rect r="r" b="b" t="t" l="l"/>
            <a:pathLst>
              <a:path h="4076028" w="7596856">
                <a:moveTo>
                  <a:pt x="0" y="0"/>
                </a:moveTo>
                <a:lnTo>
                  <a:pt x="7596856" y="0"/>
                </a:lnTo>
                <a:lnTo>
                  <a:pt x="7596856" y="4076028"/>
                </a:lnTo>
                <a:lnTo>
                  <a:pt x="0" y="4076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40" t="-67929" r="-25075" b="-58588"/>
            </a:stretch>
          </a:blipFill>
          <a:ln w="57150" cap="rnd">
            <a:solidFill>
              <a:srgbClr val="B6F1C5"/>
            </a:solidFill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-5400000">
            <a:off x="7466189" y="3421858"/>
            <a:ext cx="7596856" cy="4076028"/>
          </a:xfrm>
          <a:custGeom>
            <a:avLst/>
            <a:gdLst/>
            <a:ahLst/>
            <a:cxnLst/>
            <a:rect r="r" b="b" t="t" l="l"/>
            <a:pathLst>
              <a:path h="4076028" w="7596856">
                <a:moveTo>
                  <a:pt x="0" y="0"/>
                </a:moveTo>
                <a:lnTo>
                  <a:pt x="7596856" y="0"/>
                </a:lnTo>
                <a:lnTo>
                  <a:pt x="7596856" y="4076028"/>
                </a:lnTo>
                <a:lnTo>
                  <a:pt x="0" y="4076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15" t="-67929" r="-21401" b="-58588"/>
            </a:stretch>
          </a:blipFill>
          <a:ln w="57150" cap="rnd">
            <a:solidFill>
              <a:srgbClr val="B6F1C5"/>
            </a:solidFill>
            <a:prstDash val="solid"/>
            <a:round/>
          </a:ln>
        </p:spPr>
      </p:sp>
      <p:grpSp>
        <p:nvGrpSpPr>
          <p:cNvPr name="Group 16" id="16"/>
          <p:cNvGrpSpPr/>
          <p:nvPr/>
        </p:nvGrpSpPr>
        <p:grpSpPr>
          <a:xfrm rot="0">
            <a:off x="5598011" y="1932908"/>
            <a:ext cx="2584546" cy="341610"/>
            <a:chOff x="0" y="0"/>
            <a:chExt cx="680703" cy="899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0703" cy="89971"/>
            </a:xfrm>
            <a:custGeom>
              <a:avLst/>
              <a:gdLst/>
              <a:ahLst/>
              <a:cxnLst/>
              <a:rect r="r" b="b" t="t" l="l"/>
              <a:pathLst>
                <a:path h="89971" w="680703">
                  <a:moveTo>
                    <a:pt x="38941" y="0"/>
                  </a:moveTo>
                  <a:lnTo>
                    <a:pt x="641762" y="0"/>
                  </a:lnTo>
                  <a:cubicBezTo>
                    <a:pt x="652090" y="0"/>
                    <a:pt x="661995" y="4103"/>
                    <a:pt x="669298" y="11406"/>
                  </a:cubicBezTo>
                  <a:cubicBezTo>
                    <a:pt x="676601" y="18708"/>
                    <a:pt x="680703" y="28613"/>
                    <a:pt x="680703" y="38941"/>
                  </a:cubicBezTo>
                  <a:lnTo>
                    <a:pt x="680703" y="51030"/>
                  </a:lnTo>
                  <a:cubicBezTo>
                    <a:pt x="680703" y="61358"/>
                    <a:pt x="676601" y="71263"/>
                    <a:pt x="669298" y="78566"/>
                  </a:cubicBezTo>
                  <a:cubicBezTo>
                    <a:pt x="661995" y="85869"/>
                    <a:pt x="652090" y="89971"/>
                    <a:pt x="641762" y="89971"/>
                  </a:cubicBezTo>
                  <a:lnTo>
                    <a:pt x="38941" y="89971"/>
                  </a:lnTo>
                  <a:cubicBezTo>
                    <a:pt x="28613" y="89971"/>
                    <a:pt x="18708" y="85869"/>
                    <a:pt x="11406" y="78566"/>
                  </a:cubicBezTo>
                  <a:cubicBezTo>
                    <a:pt x="4103" y="71263"/>
                    <a:pt x="0" y="61358"/>
                    <a:pt x="0" y="51030"/>
                  </a:cubicBezTo>
                  <a:lnTo>
                    <a:pt x="0" y="38941"/>
                  </a:lnTo>
                  <a:cubicBezTo>
                    <a:pt x="0" y="28613"/>
                    <a:pt x="4103" y="18708"/>
                    <a:pt x="11406" y="11406"/>
                  </a:cubicBezTo>
                  <a:cubicBezTo>
                    <a:pt x="18708" y="4103"/>
                    <a:pt x="28613" y="0"/>
                    <a:pt x="38941" y="0"/>
                  </a:cubicBezTo>
                  <a:close/>
                </a:path>
              </a:pathLst>
            </a:custGeom>
            <a:solidFill>
              <a:srgbClr val="B6F1C5">
                <a:alpha val="75686"/>
              </a:srgbClr>
            </a:solidFill>
            <a:ln w="19050" cap="sq">
              <a:solidFill>
                <a:srgbClr val="B6F1C5">
                  <a:alpha val="75686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0703" cy="128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75981" y="1909762"/>
            <a:ext cx="2584546" cy="341610"/>
            <a:chOff x="0" y="0"/>
            <a:chExt cx="680703" cy="899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0703" cy="89971"/>
            </a:xfrm>
            <a:custGeom>
              <a:avLst/>
              <a:gdLst/>
              <a:ahLst/>
              <a:cxnLst/>
              <a:rect r="r" b="b" t="t" l="l"/>
              <a:pathLst>
                <a:path h="89971" w="680703">
                  <a:moveTo>
                    <a:pt x="38941" y="0"/>
                  </a:moveTo>
                  <a:lnTo>
                    <a:pt x="641762" y="0"/>
                  </a:lnTo>
                  <a:cubicBezTo>
                    <a:pt x="652090" y="0"/>
                    <a:pt x="661995" y="4103"/>
                    <a:pt x="669298" y="11406"/>
                  </a:cubicBezTo>
                  <a:cubicBezTo>
                    <a:pt x="676601" y="18708"/>
                    <a:pt x="680703" y="28613"/>
                    <a:pt x="680703" y="38941"/>
                  </a:cubicBezTo>
                  <a:lnTo>
                    <a:pt x="680703" y="51030"/>
                  </a:lnTo>
                  <a:cubicBezTo>
                    <a:pt x="680703" y="61358"/>
                    <a:pt x="676601" y="71263"/>
                    <a:pt x="669298" y="78566"/>
                  </a:cubicBezTo>
                  <a:cubicBezTo>
                    <a:pt x="661995" y="85869"/>
                    <a:pt x="652090" y="89971"/>
                    <a:pt x="641762" y="89971"/>
                  </a:cubicBezTo>
                  <a:lnTo>
                    <a:pt x="38941" y="89971"/>
                  </a:lnTo>
                  <a:cubicBezTo>
                    <a:pt x="28613" y="89971"/>
                    <a:pt x="18708" y="85869"/>
                    <a:pt x="11406" y="78566"/>
                  </a:cubicBezTo>
                  <a:cubicBezTo>
                    <a:pt x="4103" y="71263"/>
                    <a:pt x="0" y="61358"/>
                    <a:pt x="0" y="51030"/>
                  </a:cubicBezTo>
                  <a:lnTo>
                    <a:pt x="0" y="38941"/>
                  </a:lnTo>
                  <a:cubicBezTo>
                    <a:pt x="0" y="28613"/>
                    <a:pt x="4103" y="18708"/>
                    <a:pt x="11406" y="11406"/>
                  </a:cubicBezTo>
                  <a:cubicBezTo>
                    <a:pt x="18708" y="4103"/>
                    <a:pt x="28613" y="0"/>
                    <a:pt x="38941" y="0"/>
                  </a:cubicBezTo>
                  <a:close/>
                </a:path>
              </a:pathLst>
            </a:custGeom>
            <a:solidFill>
              <a:srgbClr val="B6F1C5">
                <a:alpha val="75686"/>
              </a:srgbClr>
            </a:solidFill>
            <a:ln w="19050" cap="sq">
              <a:solidFill>
                <a:srgbClr val="B6F1C5">
                  <a:alpha val="75686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0703" cy="128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9918482"/>
            <a:ext cx="18288000" cy="368518"/>
            <a:chOff x="0" y="0"/>
            <a:chExt cx="24384000" cy="4913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0" cy="491358"/>
            </a:xfrm>
            <a:custGeom>
              <a:avLst/>
              <a:gdLst/>
              <a:ahLst/>
              <a:cxnLst/>
              <a:rect r="r" b="b" t="t" l="l"/>
              <a:pathLst>
                <a:path h="49135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1358"/>
                  </a:lnTo>
                  <a:lnTo>
                    <a:pt x="0" y="49135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505465" y="9880382"/>
            <a:ext cx="4267200" cy="547688"/>
            <a:chOff x="0" y="0"/>
            <a:chExt cx="5689600" cy="730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10223" y="9836944"/>
            <a:ext cx="4806001" cy="547688"/>
            <a:chOff x="0" y="0"/>
            <a:chExt cx="6408001" cy="7302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4142326" y="1763990"/>
            <a:ext cx="539713" cy="415579"/>
          </a:xfrm>
          <a:custGeom>
            <a:avLst/>
            <a:gdLst/>
            <a:ahLst/>
            <a:cxnLst/>
            <a:rect r="r" b="b" t="t" l="l"/>
            <a:pathLst>
              <a:path h="415579" w="539713">
                <a:moveTo>
                  <a:pt x="0" y="0"/>
                </a:moveTo>
                <a:lnTo>
                  <a:pt x="539713" y="0"/>
                </a:lnTo>
                <a:lnTo>
                  <a:pt x="539713" y="415579"/>
                </a:lnTo>
                <a:lnTo>
                  <a:pt x="0" y="4155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797713" y="1763990"/>
            <a:ext cx="431770" cy="415579"/>
          </a:xfrm>
          <a:custGeom>
            <a:avLst/>
            <a:gdLst/>
            <a:ahLst/>
            <a:cxnLst/>
            <a:rect r="r" b="b" t="t" l="l"/>
            <a:pathLst>
              <a:path h="415579" w="431770">
                <a:moveTo>
                  <a:pt x="0" y="0"/>
                </a:moveTo>
                <a:lnTo>
                  <a:pt x="431771" y="0"/>
                </a:lnTo>
                <a:lnTo>
                  <a:pt x="431771" y="415579"/>
                </a:lnTo>
                <a:lnTo>
                  <a:pt x="0" y="415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7121541" y="1763990"/>
            <a:ext cx="323828" cy="415579"/>
          </a:xfrm>
          <a:custGeom>
            <a:avLst/>
            <a:gdLst/>
            <a:ahLst/>
            <a:cxnLst/>
            <a:rect r="r" b="b" t="t" l="l"/>
            <a:pathLst>
              <a:path h="415579" w="323828">
                <a:moveTo>
                  <a:pt x="0" y="0"/>
                </a:moveTo>
                <a:lnTo>
                  <a:pt x="323828" y="0"/>
                </a:lnTo>
                <a:lnTo>
                  <a:pt x="323828" y="415579"/>
                </a:lnTo>
                <a:lnTo>
                  <a:pt x="0" y="415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505465" y="1546649"/>
            <a:ext cx="4829313" cy="8564139"/>
          </a:xfrm>
          <a:custGeom>
            <a:avLst/>
            <a:gdLst/>
            <a:ahLst/>
            <a:cxnLst/>
            <a:rect r="r" b="b" t="t" l="l"/>
            <a:pathLst>
              <a:path h="8564139" w="4829313">
                <a:moveTo>
                  <a:pt x="0" y="0"/>
                </a:moveTo>
                <a:lnTo>
                  <a:pt x="4829314" y="0"/>
                </a:lnTo>
                <a:lnTo>
                  <a:pt x="4829314" y="8564138"/>
                </a:lnTo>
                <a:lnTo>
                  <a:pt x="0" y="8564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112" t="0" r="-9112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03216" y="2379980"/>
            <a:ext cx="3552008" cy="670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Reduce Train Idling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Better block coordination minimizes avoidable train detention during maintenance.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Reduce Machine Idle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Time - Blocks are planned around maintenance-machine availability, reducing unnecessary waiting and running.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Reduce Unnecessary Machine Movement 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Work is planned considering machine location and sequence, avoiding avoidable deployment and movement.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Improve Energy Efficiency 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Fewer conflicting blocks and stop–wait cycles reduce wasted traction and operational energy.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BENEFIT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Lower fuel &amp; energy consumption, reduced operational waste, and a smaller environmental footprint.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3721" y="1956054"/>
            <a:ext cx="3217026" cy="29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ENVIRONMENTAL IMPACT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00205" y="1956054"/>
            <a:ext cx="1980158" cy="29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SOCIAL IMPACT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75981" y="1956054"/>
            <a:ext cx="2584546" cy="29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ECONOMIC IMPACT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57574" y="2295766"/>
            <a:ext cx="3665421" cy="670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Fewer Passenger Delays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Maintenance windows are planned around train movement, reducing avoidable train-maintenance conflicts.</a:t>
            </a:r>
          </a:p>
          <a:p>
            <a:pPr algn="just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Better Train Availability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Critical passenger services face fewer unnecessary disruptions from maintenance activity.</a:t>
            </a:r>
          </a:p>
          <a:p>
            <a:pPr algn="just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Safer Maintenance Windows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Clear separation between train movement and maintenance work creates safer working conditions for railway staff.</a:t>
            </a:r>
          </a:p>
          <a:p>
            <a:pPr algn="just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Better Operational Coordination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Centralized block status and conflict information keeps controllers and maintenance teams aligned.</a:t>
            </a:r>
          </a:p>
          <a:p>
            <a:pPr algn="just">
              <a:lnSpc>
                <a:spcPts val="2039"/>
              </a:lnSpc>
              <a:spcBef>
                <a:spcPct val="0"/>
              </a:spcBef>
            </a:pPr>
          </a:p>
          <a:p>
            <a:pPr algn="just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BENEFIT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More reliable journeys, safer maintenance operations, and less disruption for passengers and commuters.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64728" y="2379980"/>
            <a:ext cx="3542110" cy="644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Higher Track Capacity Utilization 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-Optimized block timing makes more productive use of existing railway infrastructure.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Reduced Train Detention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Fewer avoidable waits improve utilization of locomotives, coaches and wagons.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Better Maintenance Asset Utilization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Matching machines with suitable blocks reduces idle time of expensive maintenance equipment.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Lower Operational Waste</a:t>
            </a: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Detecting conflicting or overlapping requests before approval prevents wasted block hours and unnecessary deployment.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BENEFIT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Better utilization of existing assets, lower operational waste, and improved railway capacity efficiency.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6306" y="-114399"/>
            <a:ext cx="11521440" cy="1234440"/>
            <a:chOff x="0" y="0"/>
            <a:chExt cx="153619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361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536192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RESEARCH, BENCHMARKS &amp;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7695" y="297571"/>
            <a:ext cx="1319952" cy="860569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LastCommit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918482"/>
            <a:ext cx="18288000" cy="368518"/>
            <a:chOff x="0" y="0"/>
            <a:chExt cx="24384000" cy="491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491358"/>
            </a:xfrm>
            <a:custGeom>
              <a:avLst/>
              <a:gdLst/>
              <a:ahLst/>
              <a:cxnLst/>
              <a:rect r="r" b="b" t="t" l="l"/>
              <a:pathLst>
                <a:path h="49135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1358"/>
                  </a:lnTo>
                  <a:lnTo>
                    <a:pt x="0" y="49135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505465" y="9880382"/>
            <a:ext cx="4267200" cy="547688"/>
            <a:chOff x="0" y="0"/>
            <a:chExt cx="568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10223" y="9836944"/>
            <a:ext cx="4806001" cy="547688"/>
            <a:chOff x="0" y="0"/>
            <a:chExt cx="6408001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63556" y="7044718"/>
            <a:ext cx="9401572" cy="2835688"/>
            <a:chOff x="0" y="0"/>
            <a:chExt cx="2476119" cy="7468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6119" cy="746887"/>
            </a:xfrm>
            <a:custGeom>
              <a:avLst/>
              <a:gdLst/>
              <a:ahLst/>
              <a:cxnLst/>
              <a:rect r="r" b="b" t="t" l="l"/>
              <a:pathLst>
                <a:path h="746887" w="2476119">
                  <a:moveTo>
                    <a:pt x="2476119" y="41174"/>
                  </a:moveTo>
                  <a:lnTo>
                    <a:pt x="2476119" y="705713"/>
                  </a:lnTo>
                  <a:cubicBezTo>
                    <a:pt x="2476119" y="728453"/>
                    <a:pt x="2457685" y="746887"/>
                    <a:pt x="2434946" y="746887"/>
                  </a:cubicBezTo>
                  <a:lnTo>
                    <a:pt x="41174" y="746887"/>
                  </a:lnTo>
                  <a:cubicBezTo>
                    <a:pt x="30254" y="746887"/>
                    <a:pt x="19781" y="742549"/>
                    <a:pt x="12059" y="734828"/>
                  </a:cubicBezTo>
                  <a:cubicBezTo>
                    <a:pt x="4338" y="727106"/>
                    <a:pt x="0" y="716633"/>
                    <a:pt x="0" y="705713"/>
                  </a:cubicBezTo>
                  <a:lnTo>
                    <a:pt x="0" y="41174"/>
                  </a:lnTo>
                  <a:cubicBezTo>
                    <a:pt x="0" y="30254"/>
                    <a:pt x="4338" y="19781"/>
                    <a:pt x="12059" y="12059"/>
                  </a:cubicBezTo>
                  <a:cubicBezTo>
                    <a:pt x="19781" y="4338"/>
                    <a:pt x="30254" y="0"/>
                    <a:pt x="41174" y="0"/>
                  </a:cubicBezTo>
                  <a:lnTo>
                    <a:pt x="2434946" y="0"/>
                  </a:lnTo>
                  <a:cubicBezTo>
                    <a:pt x="2445865" y="0"/>
                    <a:pt x="2456338" y="4338"/>
                    <a:pt x="2464059" y="12059"/>
                  </a:cubicBezTo>
                  <a:cubicBezTo>
                    <a:pt x="2471781" y="19781"/>
                    <a:pt x="2476119" y="30254"/>
                    <a:pt x="2476119" y="41174"/>
                  </a:cubicBezTo>
                  <a:close/>
                </a:path>
              </a:pathLst>
            </a:custGeom>
            <a:solidFill>
              <a:srgbClr val="F0E3FC"/>
            </a:solidFill>
            <a:ln w="38100" cap="rnd">
              <a:solidFill>
                <a:srgbClr val="C0A1FB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76119" cy="784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736899" y="17828"/>
            <a:ext cx="2040404" cy="963440"/>
            <a:chOff x="0" y="0"/>
            <a:chExt cx="4499699" cy="2124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8570" y="1234440"/>
            <a:ext cx="8160469" cy="8669822"/>
            <a:chOff x="0" y="0"/>
            <a:chExt cx="10880626" cy="1155976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880626" cy="11559763"/>
              <a:chOff x="0" y="0"/>
              <a:chExt cx="2280426" cy="242276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280426" cy="2422764"/>
              </a:xfrm>
              <a:custGeom>
                <a:avLst/>
                <a:gdLst/>
                <a:ahLst/>
                <a:cxnLst/>
                <a:rect r="r" b="b" t="t" l="l"/>
                <a:pathLst>
                  <a:path h="2422764" w="2280426">
                    <a:moveTo>
                      <a:pt x="23248" y="0"/>
                    </a:moveTo>
                    <a:lnTo>
                      <a:pt x="2257179" y="0"/>
                    </a:lnTo>
                    <a:cubicBezTo>
                      <a:pt x="2263344" y="0"/>
                      <a:pt x="2269257" y="2449"/>
                      <a:pt x="2273617" y="6809"/>
                    </a:cubicBezTo>
                    <a:cubicBezTo>
                      <a:pt x="2277977" y="11169"/>
                      <a:pt x="2280426" y="17082"/>
                      <a:pt x="2280426" y="23248"/>
                    </a:cubicBezTo>
                    <a:lnTo>
                      <a:pt x="2280426" y="2399516"/>
                    </a:lnTo>
                    <a:cubicBezTo>
                      <a:pt x="2280426" y="2405682"/>
                      <a:pt x="2277977" y="2411595"/>
                      <a:pt x="2273617" y="2415955"/>
                    </a:cubicBezTo>
                    <a:cubicBezTo>
                      <a:pt x="2269257" y="2420314"/>
                      <a:pt x="2263344" y="2422764"/>
                      <a:pt x="2257179" y="2422764"/>
                    </a:cubicBezTo>
                    <a:lnTo>
                      <a:pt x="23248" y="2422764"/>
                    </a:lnTo>
                    <a:cubicBezTo>
                      <a:pt x="17082" y="2422764"/>
                      <a:pt x="11169" y="2420314"/>
                      <a:pt x="6809" y="2415955"/>
                    </a:cubicBezTo>
                    <a:cubicBezTo>
                      <a:pt x="2449" y="2411595"/>
                      <a:pt x="0" y="2405682"/>
                      <a:pt x="0" y="2399516"/>
                    </a:cubicBezTo>
                    <a:lnTo>
                      <a:pt x="0" y="23248"/>
                    </a:lnTo>
                    <a:cubicBezTo>
                      <a:pt x="0" y="17082"/>
                      <a:pt x="2449" y="11169"/>
                      <a:pt x="6809" y="6809"/>
                    </a:cubicBezTo>
                    <a:cubicBezTo>
                      <a:pt x="11169" y="2449"/>
                      <a:pt x="17082" y="0"/>
                      <a:pt x="23248" y="0"/>
                    </a:cubicBezTo>
                    <a:close/>
                  </a:path>
                </a:pathLst>
              </a:custGeom>
              <a:solidFill>
                <a:srgbClr val="EFFFDD"/>
              </a:solidFill>
              <a:ln w="38100" cap="rnd">
                <a:solidFill>
                  <a:srgbClr val="A3D17E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280426" cy="24703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76307" y="779320"/>
              <a:ext cx="10528011" cy="1035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CAG Railway Audit (Report No. 22):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Empirical data connects uncoordinated maintenance &amp; asset failures to 22.20% of total railway punctuality loss.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 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4" tooltip="https://cag.gov.in/en/audit-report/details/116032?utm_source=chatgpt.com"/>
                </a:rPr>
                <a:t>CAG Report No. 22 of 2021↗️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CAMTECH Guidelines: 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Standard Operating Procedures for Traffic &amp; Power Blocks, 25kV OHE isolation, work permits, and machine/staff log registers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 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5" tooltip="https://rdso.indianrailways.gov.in/works/uploads/File/Handbook%20on%20Review%20of%20Maintenance%20Schedule%20for%20OHE%281%29.pdf?utm_source=chatgpt.com"/>
                </a:rPr>
                <a:t>CAMTECH Handbook↗️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IRICEN Rolling Block Research: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Studies on rolling block programs, corridor-based maintenance coordination, and AI block-window identification methodologies 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6" tooltip="https://iricen.gov.in/iricen/ipwe_seminar/2017/Nov%202023%20Vol-2/Ensuring%20Effectiveness%20in%20the%20Implementation%20of%20the%20Rolling%20Blockplan.pdf"/>
                </a:rPr>
                <a:t>IRICEN Rolling Block Research↗️.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IndiaAI (Ministry of Railways):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Documented AI use-cases in track condition assessment, acoustic bearing monitoring, and predictive signalling maintenance frameworks.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 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7" tooltip="https://indiaai.gov.in/government/ministry-of-railways"/>
                </a:rPr>
                <a:t> IndianAI-Ministry of Railway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↗️.)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TCS Railway Asset Management Research: 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AI/ML frameworks demonstrating quantifiable line-capacity benefits of bundling multi-department maintenance into consolidated access windows.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 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8" tooltip="https://www.tcs.com/what-we-do/industries/travel-and-logistics/white-paper/ai-ml-framework-improves-efficiency-of-railway-asset-management"/>
                </a:rPr>
                <a:t>TCS Research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↗️)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Indian Railways G&amp;SR Standards: 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General &amp; Subsidiary Rules governing absolute/automatic block working, safe braking headways, and Control Office Application (COA) protocols.  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 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9" tooltip="https://nr.indianrailways.gov.in/uploads/files/1747981399971-G%20and%20SR%20reprinted%20edition%202025.pdf"/>
                </a:rPr>
                <a:t>Indian Railways G&amp;SR-2025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↗️.)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JR East (Japan):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AI-based proactive condition monitoring, smart track inspection cars, and condition-based predictive maintenance protocols. 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 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10" tooltip="https://www.jreast.co.jp/en/company/csr/innovation/technology/"/>
                </a:rPr>
                <a:t>.JR East↗️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Deutsche Bahn (Germany):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AI-driven train dispatching and automated timetable optimization engines for ultra-dense mixed passenger/freight rail networks.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 (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11" tooltip="https://www.deutschebahn.com/en/artificial_intelligence-6935068"/>
                </a:rPr>
                <a:t>Deutsche Bahn↗️.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European Rail Joint Scheduling:</a:t>
              </a: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Scientific research models for simultaneous mathematical optimization of train paths and scheduled infrastructure track possession.</a:t>
              </a:r>
            </a:p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LINK:( </a:t>
              </a:r>
              <a:r>
                <a:rPr lang="en-US" b="true" sz="14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12" tooltip="https://www.nature.com/articles/s41598-025-26026-9"/>
                </a:rPr>
                <a:t>Research Paper↗️.</a:t>
              </a:r>
              <a:r>
                <a:rPr lang="en-US" b="true" sz="14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564262" y="232671"/>
              <a:ext cx="5680284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Indian Railways Institutional Groundwork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101689" y="3934058"/>
              <a:ext cx="4605432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 Industry Research &amp; AI Initiatives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515089" y="7535651"/>
              <a:ext cx="3778631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Global Railway Benchmarks</a:t>
              </a:r>
            </a:p>
          </p:txBody>
        </p:sp>
      </p:grpSp>
      <p:pic>
        <p:nvPicPr>
          <p:cNvPr name="Picture 29" id="29">
            <a:hlinkClick action="ppaction://media"/>
          </p:cNvPr>
          <p:cNvPicPr>
            <a:picLocks noChangeAspect="true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3"/>
          <a:srcRect l="13571" t="0" r="13084" b="0"/>
          <a:stretch>
            <a:fillRect/>
          </a:stretch>
        </p:blipFill>
        <p:spPr>
          <a:xfrm flipH="false" flipV="false" rot="0">
            <a:off x="9313224" y="1024034"/>
            <a:ext cx="7794623" cy="5977918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8972144" y="7501892"/>
            <a:ext cx="8905612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Existing RBPMS/workflows + AI optimization → intelligent coordinated block planning.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Our Breakthrough: An end-to-end algorithmic decision layer that transforms siloed maintenance requests into conflict-free, multi-department Mega-Blocks, strictly enforcing safety buffers and optimizing asset uptime.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sz="1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Empirical Reproducibility: Tested on authentic Northern Railway operational simulations with verified mathematical before-vs-after metrics.</a:t>
            </a:r>
          </a:p>
          <a:p>
            <a:pPr algn="l">
              <a:lnSpc>
                <a:spcPts val="1755"/>
              </a:lnSpc>
              <a:spcBef>
                <a:spcPct val="0"/>
              </a:spcBef>
            </a:pPr>
            <a:r>
              <a:rPr lang="en-US" b="true" sz="14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LINK: </a:t>
            </a:r>
            <a:r>
              <a:rPr lang="en-US" b="true" sz="1463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16" tooltip="https://play.google.com/store/apps/details?id=com.sisx.rbpams&amp;hl=en_IN"/>
              </a:rPr>
              <a:t>RBPMS↗️.</a:t>
            </a:r>
            <a:r>
              <a:rPr lang="en-US" b="true" sz="14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06470" y="7178042"/>
            <a:ext cx="518266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BRIDGING THE MISSING  IN INDIAN RAILWAYS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DAHUc8wjTzM</dc:identifier>
  <dcterms:modified xsi:type="dcterms:W3CDTF">2011-08-01T06:04:30Z</dcterms:modified>
  <cp:revision>1</cp:revision>
  <dc:title>Problem Statement ID – SIH26027 Problem Statement Title- Theme- PS Category- Software/Hardware Team ID- SIH26027/0214 Team Name- LastCommit</dc:title>
</cp:coreProperties>
</file>